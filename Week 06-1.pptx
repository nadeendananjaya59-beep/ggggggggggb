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9144000"/>
  <p:embeddedFontLst>
    <p:embeddedFont>
      <p:font typeface="Encode Sans"/>
      <p:regular r:id="rId58"/>
      <p:bold r:id="rId59"/>
    </p:embeddedFont>
    <p:embeddedFont>
      <p:font typeface="Corbel"/>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jYqZ3YjfzeFYmj+G0JZamdyANx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03848A-D59A-488F-8432-9368CBC616B2}">
  <a:tblStyle styleId="{6D03848A-D59A-488F-8432-9368CBC616B2}" styleName="Table_0">
    <a:wholeTbl>
      <a:tcTxStyle b="off" i="off">
        <a:font>
          <a:latin typeface="Corbel"/>
          <a:ea typeface="Corbel"/>
          <a:cs typeface="Corbel"/>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1A3847FB-9B13-4179-871C-DBFC86106797}" styleName="Table_1">
    <a:wholeTbl>
      <a:tcTxStyle b="off" i="off">
        <a:font>
          <a:latin typeface="Corbel"/>
          <a:ea typeface="Corbel"/>
          <a:cs typeface="Corbe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20000"/>
            </a:schemeClr>
          </a:solidFill>
        </a:fill>
      </a:tcStyle>
    </a:band1H>
    <a:band2H>
      <a:tcTxStyle b="off" i="off"/>
    </a:band2H>
    <a:band1V>
      <a:tcTxStyle b="off" i="off"/>
      <a:tcStyle>
        <a:fill>
          <a:solidFill>
            <a:schemeClr val="accent1">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0B2BE228-E682-492D-BF72-B5443A40EE51}" styleName="Table_2">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7E9E7"/>
          </a:solidFill>
        </a:fill>
      </a:tcStyle>
    </a:wholeTbl>
    <a:band1H>
      <a:tcTxStyle b="off" i="off"/>
      <a:tcStyle>
        <a:fill>
          <a:solidFill>
            <a:srgbClr val="EFD0CC"/>
          </a:solidFill>
        </a:fill>
      </a:tcStyle>
    </a:band1H>
    <a:band2H>
      <a:tcTxStyle b="off" i="off"/>
    </a:band2H>
    <a:band1V>
      <a:tcTxStyle b="off" i="off"/>
      <a:tcStyle>
        <a:fill>
          <a:solidFill>
            <a:srgbClr val="EFD0CC"/>
          </a:solidFill>
        </a:fill>
      </a:tcStyle>
    </a:band1V>
    <a:band2V>
      <a:tcTxStyle b="off" i="off"/>
    </a:band2V>
    <a:lastCol>
      <a:tcTxStyle b="on" i="off">
        <a:font>
          <a:latin typeface="Corbel"/>
          <a:ea typeface="Corbel"/>
          <a:cs typeface="Corbel"/>
        </a:font>
        <a:schemeClr val="lt1"/>
      </a:tcTxStyle>
      <a:tcStyle>
        <a:fill>
          <a:solidFill>
            <a:schemeClr val="accent5"/>
          </a:solidFill>
        </a:fill>
      </a:tcStyle>
    </a:lastCol>
    <a:firstCol>
      <a:tcTxStyle b="on" i="off">
        <a:font>
          <a:latin typeface="Corbel"/>
          <a:ea typeface="Corbel"/>
          <a:cs typeface="Corbel"/>
        </a:font>
        <a:schemeClr val="lt1"/>
      </a:tcTxStyle>
      <a:tcStyle>
        <a:fill>
          <a:solidFill>
            <a:schemeClr val="accent5"/>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b="off" i="off"/>
    </a:seCell>
    <a:swCell>
      <a:tcTxStyle b="off" i="off"/>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Corbel-italic.fntdata"/><Relationship Id="rId61" Type="http://schemas.openxmlformats.org/officeDocument/2006/relationships/font" Target="fonts/Corbel-bold.fntdata"/><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font" Target="fonts/Corbel-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Corbel-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EncodeSans-bold.fntdata"/><Relationship Id="rId14" Type="http://schemas.openxmlformats.org/officeDocument/2006/relationships/slide" Target="slides/slide9.xml"/><Relationship Id="rId58" Type="http://schemas.openxmlformats.org/officeDocument/2006/relationships/font" Target="fonts/EncodeSans-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4" name="Google Shape;424;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0" name="Google Shape;47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1" name="Google Shape;481;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 name="Google Shape;501;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grpSp>
        <p:nvGrpSpPr>
          <p:cNvPr id="19" name="Google Shape;19;p54"/>
          <p:cNvGrpSpPr/>
          <p:nvPr/>
        </p:nvGrpSpPr>
        <p:grpSpPr>
          <a:xfrm>
            <a:off x="546100" y="-4763"/>
            <a:ext cx="5014912" cy="6862763"/>
            <a:chOff x="2928938" y="-4763"/>
            <a:chExt cx="5014912" cy="6862763"/>
          </a:xfrm>
        </p:grpSpPr>
        <p:sp>
          <p:nvSpPr>
            <p:cNvPr id="20" name="Google Shape;20;p54"/>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21" name="Google Shape;21;p54"/>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2" name="Google Shape;22;p54"/>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23" name="Google Shape;23;p54"/>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455A19"/>
            </a:solidFill>
            <a:ln>
              <a:noFill/>
            </a:ln>
          </p:spPr>
        </p:sp>
        <p:sp>
          <p:nvSpPr>
            <p:cNvPr id="24" name="Google Shape;24;p54"/>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688726"/>
            </a:solidFill>
            <a:ln>
              <a:noFill/>
            </a:ln>
          </p:spPr>
        </p:sp>
        <p:sp>
          <p:nvSpPr>
            <p:cNvPr id="25" name="Google Shape;25;p54"/>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26" name="Google Shape;26;p54"/>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6000"/>
              <a:buFont typeface="Corbe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4"/>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lvl1pPr lvl="0" algn="r">
              <a:lnSpc>
                <a:spcPct val="100000"/>
              </a:lnSpc>
              <a:spcBef>
                <a:spcPts val="420"/>
              </a:spcBef>
              <a:spcAft>
                <a:spcPts val="0"/>
              </a:spcAft>
              <a:buSzPts val="3045"/>
              <a:buNone/>
              <a:defRPr sz="21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28" name="Google Shape;28;p5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4"/>
          <p:cNvSpPr txBox="1"/>
          <p:nvPr>
            <p:ph idx="11" type="ftr"/>
          </p:nvPr>
        </p:nvSpPr>
        <p:spPr>
          <a:xfrm>
            <a:off x="5332412" y="5883275"/>
            <a:ext cx="432404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5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5"/>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34" name="Google Shape;34;p5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5"/>
          <p:cNvSpPr txBox="1"/>
          <p:nvPr>
            <p:ph idx="12" type="sldNum"/>
          </p:nvPr>
        </p:nvSpPr>
        <p:spPr>
          <a:xfrm>
            <a:off x="10951856" y="5867131"/>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56"/>
          <p:cNvSpPr txBox="1"/>
          <p:nvPr>
            <p:ph type="title"/>
          </p:nvPr>
        </p:nvSpPr>
        <p:spPr>
          <a:xfrm>
            <a:off x="2572279" y="2666999"/>
            <a:ext cx="8930747" cy="2110382"/>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6"/>
          <p:cNvSpPr txBox="1"/>
          <p:nvPr>
            <p:ph idx="1" type="body"/>
          </p:nvPr>
        </p:nvSpPr>
        <p:spPr>
          <a:xfrm>
            <a:off x="2572278" y="4777381"/>
            <a:ext cx="8930748"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0" name="Google Shape;40;p5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5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7"/>
          <p:cNvSpPr txBox="1"/>
          <p:nvPr>
            <p:ph idx="1" type="body"/>
          </p:nvPr>
        </p:nvSpPr>
        <p:spPr>
          <a:xfrm>
            <a:off x="1484312" y="2666999"/>
            <a:ext cx="4895055" cy="3124201"/>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6" name="Google Shape;46;p57"/>
          <p:cNvSpPr txBox="1"/>
          <p:nvPr>
            <p:ph idx="2" type="body"/>
          </p:nvPr>
        </p:nvSpPr>
        <p:spPr>
          <a:xfrm>
            <a:off x="6607967" y="2667000"/>
            <a:ext cx="4895056" cy="3124200"/>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7" name="Google Shape;47;p5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58"/>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8"/>
          <p:cNvSpPr txBox="1"/>
          <p:nvPr>
            <p:ph idx="1" type="body"/>
          </p:nvPr>
        </p:nvSpPr>
        <p:spPr>
          <a:xfrm>
            <a:off x="1772179" y="2658533"/>
            <a:ext cx="46071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688726"/>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53" name="Google Shape;53;p58"/>
          <p:cNvSpPr txBox="1"/>
          <p:nvPr>
            <p:ph idx="2" type="body"/>
          </p:nvPr>
        </p:nvSpPr>
        <p:spPr>
          <a:xfrm>
            <a:off x="1484311"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58"/>
          <p:cNvSpPr txBox="1"/>
          <p:nvPr>
            <p:ph idx="3" type="body"/>
          </p:nvPr>
        </p:nvSpPr>
        <p:spPr>
          <a:xfrm>
            <a:off x="6880487" y="2667000"/>
            <a:ext cx="462253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688726"/>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55" name="Google Shape;55;p58"/>
          <p:cNvSpPr txBox="1"/>
          <p:nvPr>
            <p:ph idx="4" type="body"/>
          </p:nvPr>
        </p:nvSpPr>
        <p:spPr>
          <a:xfrm>
            <a:off x="6607967"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6" name="Google Shape;56;p5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59"/>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5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6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61"/>
          <p:cNvSpPr txBox="1"/>
          <p:nvPr>
            <p:ph type="title"/>
          </p:nvPr>
        </p:nvSpPr>
        <p:spPr>
          <a:xfrm>
            <a:off x="1484312" y="1600200"/>
            <a:ext cx="3549121"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 type="body"/>
          </p:nvPr>
        </p:nvSpPr>
        <p:spPr>
          <a:xfrm>
            <a:off x="5262033" y="685799"/>
            <a:ext cx="6240990"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1" name="Google Shape;71;p61"/>
          <p:cNvSpPr txBox="1"/>
          <p:nvPr>
            <p:ph idx="2" type="body"/>
          </p:nvPr>
        </p:nvSpPr>
        <p:spPr>
          <a:xfrm>
            <a:off x="1484312" y="2971800"/>
            <a:ext cx="3549121"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72" name="Google Shape;72;p6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62"/>
          <p:cNvSpPr txBox="1"/>
          <p:nvPr>
            <p:ph type="title"/>
          </p:nvPr>
        </p:nvSpPr>
        <p:spPr>
          <a:xfrm>
            <a:off x="1482724" y="1752599"/>
            <a:ext cx="5426158"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p:nvPr>
            <p:ph idx="2" type="pic"/>
          </p:nvPr>
        </p:nvSpPr>
        <p:spPr>
          <a:xfrm>
            <a:off x="7594682" y="914400"/>
            <a:ext cx="3280974"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62"/>
          <p:cNvSpPr txBox="1"/>
          <p:nvPr>
            <p:ph idx="1" type="body"/>
          </p:nvPr>
        </p:nvSpPr>
        <p:spPr>
          <a:xfrm>
            <a:off x="1482724" y="3124199"/>
            <a:ext cx="5426158"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79" name="Google Shape;79;p6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63"/>
          <p:cNvSpPr txBox="1"/>
          <p:nvPr>
            <p:ph type="title"/>
          </p:nvPr>
        </p:nvSpPr>
        <p:spPr>
          <a:xfrm>
            <a:off x="1484311" y="4732865"/>
            <a:ext cx="1001871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3"/>
          <p:cNvSpPr/>
          <p:nvPr>
            <p:ph idx="2" type="pic"/>
          </p:nvPr>
        </p:nvSpPr>
        <p:spPr>
          <a:xfrm>
            <a:off x="2386012" y="932112"/>
            <a:ext cx="8225944"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63"/>
          <p:cNvSpPr txBox="1"/>
          <p:nvPr>
            <p:ph idx="1" type="body"/>
          </p:nvPr>
        </p:nvSpPr>
        <p:spPr>
          <a:xfrm>
            <a:off x="1484311" y="5299603"/>
            <a:ext cx="1001871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6" name="Google Shape;86;p6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64"/>
          <p:cNvSpPr txBox="1"/>
          <p:nvPr>
            <p:ph type="title"/>
          </p:nvPr>
        </p:nvSpPr>
        <p:spPr>
          <a:xfrm>
            <a:off x="1484312" y="685800"/>
            <a:ext cx="1001871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4"/>
          <p:cNvSpPr txBox="1"/>
          <p:nvPr>
            <p:ph idx="1" type="body"/>
          </p:nvPr>
        </p:nvSpPr>
        <p:spPr>
          <a:xfrm>
            <a:off x="1484312" y="4343400"/>
            <a:ext cx="1001871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92" name="Google Shape;92;p6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6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6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65"/>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97" name="Google Shape;97;p65"/>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98" name="Google Shape;98;p65"/>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5"/>
          <p:cNvSpPr txBox="1"/>
          <p:nvPr>
            <p:ph idx="1" type="body"/>
          </p:nvPr>
        </p:nvSpPr>
        <p:spPr>
          <a:xfrm>
            <a:off x="2436811" y="3428999"/>
            <a:ext cx="8532815"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0" name="Google Shape;100;p65"/>
          <p:cNvSpPr txBox="1"/>
          <p:nvPr>
            <p:ph idx="2" type="body"/>
          </p:nvPr>
        </p:nvSpPr>
        <p:spPr>
          <a:xfrm>
            <a:off x="1484311" y="4343400"/>
            <a:ext cx="1001871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1" name="Google Shape;101;p6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6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66"/>
          <p:cNvSpPr txBox="1"/>
          <p:nvPr>
            <p:ph type="title"/>
          </p:nvPr>
        </p:nvSpPr>
        <p:spPr>
          <a:xfrm>
            <a:off x="1484313" y="3308581"/>
            <a:ext cx="1001870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6"/>
          <p:cNvSpPr txBox="1"/>
          <p:nvPr>
            <p:ph idx="1" type="body"/>
          </p:nvPr>
        </p:nvSpPr>
        <p:spPr>
          <a:xfrm>
            <a:off x="1484312" y="4777381"/>
            <a:ext cx="1001871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7" name="Google Shape;107;p6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67"/>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2" name="Google Shape;112;p67"/>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3" name="Google Shape;113;p67"/>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7"/>
          <p:cNvSpPr txBox="1"/>
          <p:nvPr>
            <p:ph idx="1" type="body"/>
          </p:nvPr>
        </p:nvSpPr>
        <p:spPr>
          <a:xfrm>
            <a:off x="1484313" y="3886200"/>
            <a:ext cx="1001871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15" name="Google Shape;115;p67"/>
          <p:cNvSpPr txBox="1"/>
          <p:nvPr>
            <p:ph idx="2" type="body"/>
          </p:nvPr>
        </p:nvSpPr>
        <p:spPr>
          <a:xfrm>
            <a:off x="1484312" y="4775200"/>
            <a:ext cx="1001871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6" name="Google Shape;116;p6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68"/>
          <p:cNvSpPr txBox="1"/>
          <p:nvPr>
            <p:ph type="title"/>
          </p:nvPr>
        </p:nvSpPr>
        <p:spPr>
          <a:xfrm>
            <a:off x="1484313" y="685800"/>
            <a:ext cx="10018712"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68"/>
          <p:cNvSpPr txBox="1"/>
          <p:nvPr>
            <p:ph idx="1" type="body"/>
          </p:nvPr>
        </p:nvSpPr>
        <p:spPr>
          <a:xfrm>
            <a:off x="1484312" y="3505200"/>
            <a:ext cx="1001871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2" name="Google Shape;122;p68"/>
          <p:cNvSpPr txBox="1"/>
          <p:nvPr>
            <p:ph idx="2" type="body"/>
          </p:nvPr>
        </p:nvSpPr>
        <p:spPr>
          <a:xfrm>
            <a:off x="1484311" y="4343400"/>
            <a:ext cx="1001871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3" name="Google Shape;123;p6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6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69"/>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69"/>
          <p:cNvSpPr txBox="1"/>
          <p:nvPr>
            <p:ph idx="1" type="body"/>
          </p:nvPr>
        </p:nvSpPr>
        <p:spPr>
          <a:xfrm rot="5400000">
            <a:off x="4931566" y="-780257"/>
            <a:ext cx="3124201" cy="1001871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9" name="Google Shape;129;p6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6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6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70"/>
          <p:cNvSpPr txBox="1"/>
          <p:nvPr>
            <p:ph type="title"/>
          </p:nvPr>
        </p:nvSpPr>
        <p:spPr>
          <a:xfrm rot="5400000">
            <a:off x="8065140" y="2353315"/>
            <a:ext cx="5105400" cy="177036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70"/>
          <p:cNvSpPr txBox="1"/>
          <p:nvPr>
            <p:ph idx="1" type="body"/>
          </p:nvPr>
        </p:nvSpPr>
        <p:spPr>
          <a:xfrm rot="5400000">
            <a:off x="2941483" y="-771371"/>
            <a:ext cx="5105400" cy="8019742"/>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5" name="Google Shape;135;p7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7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7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53"/>
          <p:cNvGrpSpPr/>
          <p:nvPr/>
        </p:nvGrpSpPr>
        <p:grpSpPr>
          <a:xfrm>
            <a:off x="150812" y="0"/>
            <a:ext cx="2436813" cy="6858001"/>
            <a:chOff x="1320800" y="0"/>
            <a:chExt cx="2436813" cy="6858001"/>
          </a:xfrm>
        </p:grpSpPr>
        <p:sp>
          <p:nvSpPr>
            <p:cNvPr id="7" name="Google Shape;7;p53"/>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53"/>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53"/>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53"/>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455A19"/>
            </a:solidFill>
            <a:ln>
              <a:noFill/>
            </a:ln>
          </p:spPr>
        </p:sp>
        <p:sp>
          <p:nvSpPr>
            <p:cNvPr id="11" name="Google Shape;11;p53"/>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688726"/>
            </a:solidFill>
            <a:ln>
              <a:noFill/>
            </a:ln>
          </p:spPr>
        </p:sp>
        <p:sp>
          <p:nvSpPr>
            <p:cNvPr id="12" name="Google Shape;12;p53"/>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53"/>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4" name="Google Shape;14;p53"/>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688726"/>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688726"/>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688726"/>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688726"/>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688726"/>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5" name="Google Shape;15;p5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16" name="Google Shape;16;p5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17" name="Google Shape;17;p5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jpg"/><Relationship Id="rId4" Type="http://schemas.openxmlformats.org/officeDocument/2006/relationships/image" Target="../media/image30.png"/><Relationship Id="rId5" Type="http://schemas.openxmlformats.org/officeDocument/2006/relationships/image" Target="../media/image4.png"/><Relationship Id="rId6"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edureka.co/blog/junit-tutoria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0.jpg"/><Relationship Id="rId6"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demo.guru99.com/v4" TargetMode="Externa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demo.guru99.com/v4" TargetMode="Externa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toolsqa.com/selenium-ide/test-step-pane/"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ui.vision/rpa/docs/selenium-id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5.png"/><Relationship Id="rId4" Type="http://schemas.openxmlformats.org/officeDocument/2006/relationships/image" Target="../media/image19.png"/><Relationship Id="rId5"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www.protechtraining.com/content/selenium_tutorial-selenium_remote_contro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0.png"/><Relationship Id="rId4" Type="http://schemas.openxmlformats.org/officeDocument/2006/relationships/hyperlink" Target="https://www.guru99.com/installing-selenium-webdriver.html" TargetMode="External"/><Relationship Id="rId5" Type="http://schemas.openxmlformats.org/officeDocument/2006/relationships/image" Target="../media/image1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3.png"/><Relationship Id="rId4"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7.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4.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www.guru99.com/introduction-selenuim-ide.html" TargetMode="External"/><Relationship Id="rId4" Type="http://schemas.openxmlformats.org/officeDocument/2006/relationships/hyperlink" Target="https://www.guru99.com/first-webdriver-script.html" TargetMode="External"/><Relationship Id="rId5" Type="http://schemas.openxmlformats.org/officeDocument/2006/relationships/hyperlink" Target="https://www.guru99.com/introduction-to-selenium-grid.html#:~:text=Selenium%20Grid%20is%20a%20part,server%20acts%20as%20a%20hub." TargetMode="External"/><Relationship Id="rId6" Type="http://schemas.openxmlformats.org/officeDocument/2006/relationships/hyperlink" Target="https://www.edureka.co/blog/what-is-selenium/" TargetMode="External"/><Relationship Id="rId7" Type="http://schemas.openxmlformats.org/officeDocument/2006/relationships/hyperlink" Target="https://www.toolsqa.com/selenium-ide/locators-in-selenium-id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
          <p:cNvSpPr txBox="1"/>
          <p:nvPr>
            <p:ph type="ctrTitle"/>
          </p:nvPr>
        </p:nvSpPr>
        <p:spPr>
          <a:xfrm>
            <a:off x="503425" y="1523800"/>
            <a:ext cx="11937000" cy="26163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6000"/>
              <a:buFont typeface="Algerian"/>
              <a:buNone/>
            </a:pPr>
            <a:r>
              <a:rPr lang="en-US">
                <a:latin typeface="Algerian"/>
                <a:ea typeface="Algerian"/>
                <a:cs typeface="Algerian"/>
                <a:sym typeface="Algerian"/>
              </a:rPr>
              <a:t>SELENIUM – TEST AUTOMATION TOOL</a:t>
            </a:r>
            <a:endParaRPr>
              <a:latin typeface="Algerian"/>
              <a:ea typeface="Algerian"/>
              <a:cs typeface="Algerian"/>
              <a:sym typeface="Algerian"/>
            </a:endParaRPr>
          </a:p>
        </p:txBody>
      </p:sp>
      <p:pic>
        <p:nvPicPr>
          <p:cNvPr id="143" name="Google Shape;143;p1"/>
          <p:cNvPicPr preferRelativeResize="0"/>
          <p:nvPr/>
        </p:nvPicPr>
        <p:blipFill rotWithShape="1">
          <a:blip r:embed="rId3">
            <a:alphaModFix/>
          </a:blip>
          <a:srcRect b="0" l="0" r="0" t="0"/>
          <a:stretch/>
        </p:blipFill>
        <p:spPr>
          <a:xfrm>
            <a:off x="9359905" y="4067353"/>
            <a:ext cx="1562459" cy="1517619"/>
          </a:xfrm>
          <a:prstGeom prst="rect">
            <a:avLst/>
          </a:prstGeom>
          <a:noFill/>
          <a:ln cap="sq" cmpd="sng" w="127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144" name="Google Shape;144;p1"/>
          <p:cNvPicPr preferRelativeResize="0"/>
          <p:nvPr/>
        </p:nvPicPr>
        <p:blipFill rotWithShape="1">
          <a:blip r:embed="rId4">
            <a:alphaModFix/>
          </a:blip>
          <a:srcRect b="0" l="0" r="0" t="0"/>
          <a:stretch/>
        </p:blipFill>
        <p:spPr>
          <a:xfrm>
            <a:off x="7509417" y="4769775"/>
            <a:ext cx="1621766" cy="1630393"/>
          </a:xfrm>
          <a:prstGeom prst="rect">
            <a:avLst/>
          </a:prstGeom>
          <a:noFill/>
          <a:ln cap="sq" cmpd="sng" w="127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145" name="Google Shape;145;p1"/>
          <p:cNvPicPr preferRelativeResize="0"/>
          <p:nvPr/>
        </p:nvPicPr>
        <p:blipFill rotWithShape="1">
          <a:blip r:embed="rId5">
            <a:alphaModFix/>
          </a:blip>
          <a:srcRect b="0" l="0" r="0" t="0"/>
          <a:stretch/>
        </p:blipFill>
        <p:spPr>
          <a:xfrm>
            <a:off x="10136285" y="519979"/>
            <a:ext cx="1416391" cy="1281834"/>
          </a:xfrm>
          <a:prstGeom prst="rect">
            <a:avLst/>
          </a:prstGeom>
          <a:noFill/>
          <a:ln>
            <a:noFill/>
          </a:ln>
        </p:spPr>
      </p:pic>
      <p:pic>
        <p:nvPicPr>
          <p:cNvPr id="146" name="Google Shape;146;p1"/>
          <p:cNvPicPr preferRelativeResize="0"/>
          <p:nvPr/>
        </p:nvPicPr>
        <p:blipFill rotWithShape="1">
          <a:blip r:embed="rId6">
            <a:alphaModFix/>
          </a:blip>
          <a:srcRect b="0" l="0" r="0" t="0"/>
          <a:stretch/>
        </p:blipFill>
        <p:spPr>
          <a:xfrm>
            <a:off x="5615796" y="4211926"/>
            <a:ext cx="1664899" cy="1575858"/>
          </a:xfrm>
          <a:prstGeom prst="rect">
            <a:avLst/>
          </a:prstGeom>
          <a:noFill/>
          <a:ln cap="sq" cmpd="sng" w="127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147" name="Google Shape;147;p1"/>
          <p:cNvSpPr txBox="1"/>
          <p:nvPr/>
        </p:nvSpPr>
        <p:spPr>
          <a:xfrm>
            <a:off x="1227425" y="272750"/>
            <a:ext cx="90402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700">
                <a:solidFill>
                  <a:schemeClr val="dk1"/>
                </a:solidFill>
                <a:latin typeface="Corbel"/>
                <a:ea typeface="Corbel"/>
                <a:cs typeface="Corbel"/>
                <a:sym typeface="Corbel"/>
              </a:rPr>
              <a:t>Software Quality Assurance</a:t>
            </a:r>
            <a:endParaRPr b="1" sz="3700">
              <a:solidFill>
                <a:schemeClr val="dk1"/>
              </a:solidFill>
              <a:latin typeface="Corbel"/>
              <a:ea typeface="Corbel"/>
              <a:cs typeface="Corbel"/>
              <a:sym typeface="Corbel"/>
            </a:endParaRPr>
          </a:p>
          <a:p>
            <a:pPr indent="0" lvl="0" marL="0" rtl="0" algn="ctr">
              <a:spcBef>
                <a:spcPts val="0"/>
              </a:spcBef>
              <a:spcAft>
                <a:spcPts val="0"/>
              </a:spcAft>
              <a:buNone/>
            </a:pPr>
            <a:r>
              <a:rPr b="1" lang="en-US" sz="3700">
                <a:solidFill>
                  <a:schemeClr val="dk1"/>
                </a:solidFill>
                <a:latin typeface="Corbel"/>
                <a:ea typeface="Corbel"/>
                <a:cs typeface="Corbel"/>
                <a:sym typeface="Corbel"/>
              </a:rPr>
              <a:t>HNDIT-4022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CONTENT</a:t>
            </a:r>
            <a:endParaRPr>
              <a:latin typeface="Algerian"/>
              <a:ea typeface="Algerian"/>
              <a:cs typeface="Algerian"/>
              <a:sym typeface="Algerian"/>
            </a:endParaRPr>
          </a:p>
        </p:txBody>
      </p:sp>
      <p:sp>
        <p:nvSpPr>
          <p:cNvPr id="153" name="Google Shape;153;p2"/>
          <p:cNvSpPr txBox="1"/>
          <p:nvPr>
            <p:ph idx="1" type="body"/>
          </p:nvPr>
        </p:nvSpPr>
        <p:spPr>
          <a:xfrm>
            <a:off x="1484310" y="2113473"/>
            <a:ext cx="10018713" cy="3677728"/>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Selenium is.</a:t>
            </a:r>
            <a:endParaRPr/>
          </a:p>
          <a:p>
            <a:pPr indent="-285750" lvl="0" marL="285750" rtl="0" algn="l">
              <a:lnSpc>
                <a:spcPct val="100000"/>
              </a:lnSpc>
              <a:spcBef>
                <a:spcPts val="1080"/>
              </a:spcBef>
              <a:spcAft>
                <a:spcPts val="0"/>
              </a:spcAft>
              <a:buSzPts val="3480"/>
              <a:buChar char="•"/>
            </a:pPr>
            <a:r>
              <a:rPr lang="en-US"/>
              <a:t>Features of selenium.</a:t>
            </a:r>
            <a:endParaRPr/>
          </a:p>
          <a:p>
            <a:pPr indent="-285750" lvl="0" marL="285750" rtl="0" algn="l">
              <a:lnSpc>
                <a:spcPct val="100000"/>
              </a:lnSpc>
              <a:spcBef>
                <a:spcPts val="1080"/>
              </a:spcBef>
              <a:spcAft>
                <a:spcPts val="0"/>
              </a:spcAft>
              <a:buSzPts val="3480"/>
              <a:buChar char="•"/>
            </a:pPr>
            <a:r>
              <a:rPr lang="en-US"/>
              <a:t>Advantages of selenium.</a:t>
            </a:r>
            <a:endParaRPr/>
          </a:p>
          <a:p>
            <a:pPr indent="-285750" lvl="0" marL="285750" rtl="0" algn="l">
              <a:lnSpc>
                <a:spcPct val="100000"/>
              </a:lnSpc>
              <a:spcBef>
                <a:spcPts val="1080"/>
              </a:spcBef>
              <a:spcAft>
                <a:spcPts val="0"/>
              </a:spcAft>
              <a:buSzPts val="3480"/>
              <a:buChar char="•"/>
            </a:pPr>
            <a:r>
              <a:rPr lang="en-US"/>
              <a:t>Components of selenium.</a:t>
            </a:r>
            <a:endParaRPr/>
          </a:p>
          <a:p>
            <a:pPr indent="-285750" lvl="0" marL="285750" rtl="0" algn="l">
              <a:lnSpc>
                <a:spcPct val="100000"/>
              </a:lnSpc>
              <a:spcBef>
                <a:spcPts val="1080"/>
              </a:spcBef>
              <a:spcAft>
                <a:spcPts val="0"/>
              </a:spcAft>
              <a:buSzPts val="3480"/>
              <a:buChar char="•"/>
            </a:pPr>
            <a:r>
              <a:rPr lang="en-US"/>
              <a:t>References.</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1.Selenium is</a:t>
            </a:r>
            <a:endParaRPr>
              <a:latin typeface="Algerian"/>
              <a:ea typeface="Algerian"/>
              <a:cs typeface="Algerian"/>
              <a:sym typeface="Algerian"/>
            </a:endParaRPr>
          </a:p>
        </p:txBody>
      </p:sp>
      <p:sp>
        <p:nvSpPr>
          <p:cNvPr id="159" name="Google Shape;159;p3"/>
          <p:cNvSpPr txBox="1"/>
          <p:nvPr>
            <p:ph idx="1" type="body"/>
          </p:nvPr>
        </p:nvSpPr>
        <p:spPr>
          <a:xfrm>
            <a:off x="1484310" y="2666999"/>
            <a:ext cx="10644430" cy="3742427"/>
          </a:xfrm>
          <a:prstGeom prst="rect">
            <a:avLst/>
          </a:prstGeom>
          <a:noFill/>
          <a:ln>
            <a:noFill/>
          </a:ln>
        </p:spPr>
        <p:txBody>
          <a:bodyPr anchorCtr="0" anchor="ctr" bIns="45700" lIns="91425" spcFirstLastPara="1" rIns="91425" wrap="square" tIns="45700">
            <a:normAutofit/>
          </a:bodyPr>
          <a:lstStyle/>
          <a:p>
            <a:pPr indent="-285750" lvl="0" marL="285750" rtl="0" algn="l">
              <a:lnSpc>
                <a:spcPct val="90000"/>
              </a:lnSpc>
              <a:spcBef>
                <a:spcPts val="0"/>
              </a:spcBef>
              <a:spcAft>
                <a:spcPts val="0"/>
              </a:spcAft>
              <a:buSzPts val="3219"/>
              <a:buChar char="•"/>
            </a:pPr>
            <a:r>
              <a:rPr lang="en-US" sz="2220"/>
              <a:t>Open source License.</a:t>
            </a:r>
            <a:endParaRPr/>
          </a:p>
          <a:p>
            <a:pPr indent="-285750" lvl="0" marL="285750" rtl="0" algn="l">
              <a:lnSpc>
                <a:spcPct val="90000"/>
              </a:lnSpc>
              <a:spcBef>
                <a:spcPts val="1044"/>
              </a:spcBef>
              <a:spcAft>
                <a:spcPts val="0"/>
              </a:spcAft>
              <a:buSzPts val="3219"/>
              <a:buChar char="•"/>
            </a:pPr>
            <a:r>
              <a:rPr lang="en-US" sz="2220"/>
              <a:t>Browser based web application testing tool</a:t>
            </a:r>
            <a:endParaRPr/>
          </a:p>
          <a:p>
            <a:pPr indent="-285750" lvl="0" marL="285750" rtl="0" algn="l">
              <a:lnSpc>
                <a:spcPct val="90000"/>
              </a:lnSpc>
              <a:spcBef>
                <a:spcPts val="1044"/>
              </a:spcBef>
              <a:spcAft>
                <a:spcPts val="0"/>
              </a:spcAft>
              <a:buSzPts val="3219"/>
              <a:buChar char="•"/>
            </a:pPr>
            <a:r>
              <a:rPr lang="en-US" sz="2220"/>
              <a:t>Support for multiple browsers.</a:t>
            </a:r>
            <a:endParaRPr/>
          </a:p>
          <a:p>
            <a:pPr indent="-285750" lvl="0" marL="285750" rtl="0" algn="l">
              <a:lnSpc>
                <a:spcPct val="90000"/>
              </a:lnSpc>
              <a:spcBef>
                <a:spcPts val="1044"/>
              </a:spcBef>
              <a:spcAft>
                <a:spcPts val="0"/>
              </a:spcAft>
              <a:buSzPts val="3219"/>
              <a:buChar char="•"/>
            </a:pPr>
            <a:r>
              <a:rPr lang="en-US" sz="2220"/>
              <a:t>Extensible framework.</a:t>
            </a:r>
            <a:endParaRPr/>
          </a:p>
          <a:p>
            <a:pPr indent="-285750" lvl="0" marL="285750" rtl="0" algn="l">
              <a:lnSpc>
                <a:spcPct val="90000"/>
              </a:lnSpc>
              <a:spcBef>
                <a:spcPts val="1044"/>
              </a:spcBef>
              <a:spcAft>
                <a:spcPts val="0"/>
              </a:spcAft>
              <a:buSzPts val="3219"/>
              <a:buChar char="•"/>
            </a:pPr>
            <a:r>
              <a:rPr lang="en-US" sz="2220"/>
              <a:t>Selenium Software is not just a single tool but a suite of software.</a:t>
            </a:r>
            <a:endParaRPr/>
          </a:p>
          <a:p>
            <a:pPr indent="-285750" lvl="0" marL="285750" rtl="0" algn="l">
              <a:lnSpc>
                <a:spcPct val="90000"/>
              </a:lnSpc>
              <a:spcBef>
                <a:spcPts val="1044"/>
              </a:spcBef>
              <a:spcAft>
                <a:spcPts val="0"/>
              </a:spcAft>
              <a:buSzPts val="3219"/>
              <a:buChar char="•"/>
            </a:pPr>
            <a:r>
              <a:rPr lang="en-US" sz="2220"/>
              <a:t>Support mobile testing (Android,OS)</a:t>
            </a:r>
            <a:endParaRPr/>
          </a:p>
          <a:p>
            <a:pPr indent="-285750" lvl="0" marL="285750" rtl="0" algn="l">
              <a:lnSpc>
                <a:spcPct val="90000"/>
              </a:lnSpc>
              <a:spcBef>
                <a:spcPts val="1044"/>
              </a:spcBef>
              <a:spcAft>
                <a:spcPts val="0"/>
              </a:spcAft>
              <a:buSzPts val="3219"/>
              <a:buChar char="•"/>
            </a:pPr>
            <a:r>
              <a:rPr lang="en-US" sz="2220"/>
              <a:t>Write test cases using language of choice java,c#.</a:t>
            </a:r>
            <a:endParaRPr/>
          </a:p>
          <a:p>
            <a:pPr indent="-285750" lvl="0" marL="285750" rtl="0" algn="l">
              <a:lnSpc>
                <a:spcPct val="90000"/>
              </a:lnSpc>
              <a:spcBef>
                <a:spcPts val="1044"/>
              </a:spcBef>
              <a:spcAft>
                <a:spcPts val="0"/>
              </a:spcAft>
              <a:buSzPts val="3219"/>
              <a:buChar char="•"/>
            </a:pPr>
            <a:r>
              <a:rPr lang="en-US" sz="2220"/>
              <a:t>Support Native Browser Testing.</a:t>
            </a:r>
            <a:endParaRPr/>
          </a:p>
          <a:p>
            <a:pPr indent="-81343" lvl="0" marL="285750" rtl="0" algn="l">
              <a:lnSpc>
                <a:spcPct val="90000"/>
              </a:lnSpc>
              <a:spcBef>
                <a:spcPts val="1044"/>
              </a:spcBef>
              <a:spcAft>
                <a:spcPts val="0"/>
              </a:spcAft>
              <a:buSzPts val="3219"/>
              <a:buNone/>
            </a:pPr>
            <a:r>
              <a:t/>
            </a:r>
            <a:endParaRPr sz="2220"/>
          </a:p>
          <a:p>
            <a:pPr indent="-81343" lvl="0" marL="285750" rtl="0" algn="l">
              <a:lnSpc>
                <a:spcPct val="90000"/>
              </a:lnSpc>
              <a:spcBef>
                <a:spcPts val="1044"/>
              </a:spcBef>
              <a:spcAft>
                <a:spcPts val="0"/>
              </a:spcAft>
              <a:buSzPts val="3219"/>
              <a:buNone/>
            </a:pPr>
            <a:r>
              <a:t/>
            </a:r>
            <a:endParaRPr sz="2220"/>
          </a:p>
          <a:p>
            <a:pPr indent="-81343" lvl="0" marL="285750" rtl="0" algn="l">
              <a:lnSpc>
                <a:spcPct val="90000"/>
              </a:lnSpc>
              <a:spcBef>
                <a:spcPts val="1044"/>
              </a:spcBef>
              <a:spcAft>
                <a:spcPts val="0"/>
              </a:spcAft>
              <a:buSzPts val="3219"/>
              <a:buNone/>
            </a:pPr>
            <a:r>
              <a:t/>
            </a:r>
            <a:endParaRPr sz="22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txBox="1"/>
          <p:nvPr>
            <p:ph type="title"/>
          </p:nvPr>
        </p:nvSpPr>
        <p:spPr>
          <a:xfrm>
            <a:off x="1293811" y="384175"/>
            <a:ext cx="10018800" cy="1752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2.Features of selenium</a:t>
            </a:r>
            <a:r>
              <a:rPr lang="en-US"/>
              <a:t>.</a:t>
            </a:r>
            <a:br>
              <a:rPr lang="en-US"/>
            </a:br>
            <a:endParaRPr/>
          </a:p>
        </p:txBody>
      </p:sp>
      <p:sp>
        <p:nvSpPr>
          <p:cNvPr id="165" name="Google Shape;165;p4"/>
          <p:cNvSpPr txBox="1"/>
          <p:nvPr>
            <p:ph idx="1" type="body"/>
          </p:nvPr>
        </p:nvSpPr>
        <p:spPr>
          <a:xfrm>
            <a:off x="1484310" y="1639020"/>
            <a:ext cx="10018713" cy="3962400"/>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Selenium is functional automation tool for web application.</a:t>
            </a:r>
            <a:endParaRPr/>
          </a:p>
          <a:p>
            <a:pPr indent="-285750" lvl="0" marL="285750" rtl="0" algn="l">
              <a:lnSpc>
                <a:spcPct val="100000"/>
              </a:lnSpc>
              <a:spcBef>
                <a:spcPts val="1080"/>
              </a:spcBef>
              <a:spcAft>
                <a:spcPts val="0"/>
              </a:spcAft>
              <a:buSzPts val="3480"/>
              <a:buChar char="•"/>
            </a:pPr>
            <a:r>
              <a:rPr lang="en-US"/>
              <a:t>Selenium is an open source tool.</a:t>
            </a:r>
            <a:endParaRPr/>
          </a:p>
          <a:p>
            <a:pPr indent="-285750" lvl="0" marL="285750" rtl="0" algn="l">
              <a:lnSpc>
                <a:spcPct val="100000"/>
              </a:lnSpc>
              <a:spcBef>
                <a:spcPts val="1080"/>
              </a:spcBef>
              <a:spcAft>
                <a:spcPts val="0"/>
              </a:spcAft>
              <a:buSzPts val="3480"/>
              <a:buChar char="•"/>
            </a:pPr>
            <a:r>
              <a:rPr lang="en-US"/>
              <a:t>Selenium supports the language like  HTML,Java,PHP,Perl,Python,Ruby, and C#.</a:t>
            </a:r>
            <a:endParaRPr/>
          </a:p>
          <a:p>
            <a:pPr indent="-285750" lvl="0" marL="285750" rtl="0" algn="l">
              <a:lnSpc>
                <a:spcPct val="100000"/>
              </a:lnSpc>
              <a:spcBef>
                <a:spcPts val="1080"/>
              </a:spcBef>
              <a:spcAft>
                <a:spcPts val="0"/>
              </a:spcAft>
              <a:buSzPts val="3480"/>
              <a:buChar char="•"/>
            </a:pPr>
            <a:r>
              <a:rPr lang="en-US"/>
              <a:t>It supports the browser like IE,Mozilla Firefox,Safari,Google Chrome and Opera.</a:t>
            </a:r>
            <a:endParaRPr/>
          </a:p>
          <a:p>
            <a:pPr indent="-285750" lvl="0" marL="285750" rtl="0" algn="l">
              <a:lnSpc>
                <a:spcPct val="100000"/>
              </a:lnSpc>
              <a:spcBef>
                <a:spcPts val="1080"/>
              </a:spcBef>
              <a:spcAft>
                <a:spcPts val="0"/>
              </a:spcAft>
              <a:buSzPts val="3480"/>
              <a:buChar char="•"/>
            </a:pPr>
            <a:r>
              <a:rPr lang="en-US"/>
              <a:t>It supports the operating systems like Windows,Linux,Mac.</a:t>
            </a:r>
            <a:endParaRPr/>
          </a:p>
          <a:p>
            <a:pPr indent="-285750" lvl="0" marL="285750" rtl="0" algn="l">
              <a:lnSpc>
                <a:spcPct val="100000"/>
              </a:lnSpc>
              <a:spcBef>
                <a:spcPts val="1080"/>
              </a:spcBef>
              <a:spcAft>
                <a:spcPts val="0"/>
              </a:spcAft>
              <a:buSzPts val="3480"/>
              <a:buChar char="•"/>
            </a:pPr>
            <a:r>
              <a:rPr lang="en-US"/>
              <a:t>It is very flexible.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5"/>
          <p:cNvSpPr txBox="1"/>
          <p:nvPr>
            <p:ph type="title"/>
          </p:nvPr>
        </p:nvSpPr>
        <p:spPr>
          <a:xfrm>
            <a:off x="1484274" y="304800"/>
            <a:ext cx="10018800" cy="1752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3.Advantages of selenium.</a:t>
            </a:r>
            <a:br>
              <a:rPr lang="en-US">
                <a:latin typeface="Algerian"/>
                <a:ea typeface="Algerian"/>
                <a:cs typeface="Algerian"/>
                <a:sym typeface="Algerian"/>
              </a:rPr>
            </a:br>
            <a:endParaRPr>
              <a:latin typeface="Algerian"/>
              <a:ea typeface="Algerian"/>
              <a:cs typeface="Algerian"/>
              <a:sym typeface="Algerian"/>
            </a:endParaRPr>
          </a:p>
        </p:txBody>
      </p:sp>
      <p:sp>
        <p:nvSpPr>
          <p:cNvPr id="171" name="Google Shape;171;p5"/>
          <p:cNvSpPr txBox="1"/>
          <p:nvPr>
            <p:ph idx="1" type="body"/>
          </p:nvPr>
        </p:nvSpPr>
        <p:spPr>
          <a:xfrm>
            <a:off x="1484310" y="1811547"/>
            <a:ext cx="10018713" cy="3979653"/>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Free of cost for company because of open source software.</a:t>
            </a:r>
            <a:endParaRPr/>
          </a:p>
          <a:p>
            <a:pPr indent="-285750" lvl="0" marL="285750" rtl="0" algn="l">
              <a:lnSpc>
                <a:spcPct val="100000"/>
              </a:lnSpc>
              <a:spcBef>
                <a:spcPts val="1080"/>
              </a:spcBef>
              <a:spcAft>
                <a:spcPts val="0"/>
              </a:spcAft>
              <a:buSzPts val="3480"/>
              <a:buChar char="•"/>
            </a:pPr>
            <a:r>
              <a:rPr lang="en-US"/>
              <a:t>Customize according to the requirements.</a:t>
            </a:r>
            <a:endParaRPr/>
          </a:p>
          <a:p>
            <a:pPr indent="-285750" lvl="0" marL="285750" rtl="0" algn="l">
              <a:lnSpc>
                <a:spcPct val="100000"/>
              </a:lnSpc>
              <a:spcBef>
                <a:spcPts val="1080"/>
              </a:spcBef>
              <a:spcAft>
                <a:spcPts val="0"/>
              </a:spcAft>
              <a:buSzPts val="3480"/>
              <a:buChar char="•"/>
            </a:pPr>
            <a:r>
              <a:rPr lang="en-US"/>
              <a:t>Ajax based system.</a:t>
            </a:r>
            <a:endParaRPr/>
          </a:p>
          <a:p>
            <a:pPr indent="-285750" lvl="0" marL="285750" rtl="0" algn="l">
              <a:lnSpc>
                <a:spcPct val="100000"/>
              </a:lnSpc>
              <a:spcBef>
                <a:spcPts val="1080"/>
              </a:spcBef>
              <a:spcAft>
                <a:spcPts val="0"/>
              </a:spcAft>
              <a:buSzPts val="3480"/>
              <a:buChar char="•"/>
            </a:pPr>
            <a:r>
              <a:rPr lang="en-US"/>
              <a:t>Support native testing for all major browsers.</a:t>
            </a:r>
            <a:endParaRPr/>
          </a:p>
          <a:p>
            <a:pPr indent="-285750" lvl="0" marL="285750" rtl="0" algn="l">
              <a:lnSpc>
                <a:spcPct val="100000"/>
              </a:lnSpc>
              <a:spcBef>
                <a:spcPts val="1080"/>
              </a:spcBef>
              <a:spcAft>
                <a:spcPts val="0"/>
              </a:spcAft>
              <a:buSzPts val="3480"/>
              <a:buChar char="•"/>
            </a:pPr>
            <a:r>
              <a:rPr lang="en-US"/>
              <a:t>It can be integrated with tools such as </a:t>
            </a:r>
            <a:r>
              <a:rPr b="1" lang="en-US"/>
              <a:t>TestNG</a:t>
            </a:r>
            <a:r>
              <a:rPr lang="en-US"/>
              <a:t> &amp; </a:t>
            </a:r>
            <a:r>
              <a:rPr b="1" lang="en-US"/>
              <a:t>JUnit</a:t>
            </a:r>
            <a:r>
              <a:rPr lang="en-US" u="sng">
                <a:solidFill>
                  <a:schemeClr val="hlink"/>
                </a:solidFill>
                <a:hlinkClick r:id="rId3"/>
              </a:rPr>
              <a:t> </a:t>
            </a:r>
            <a:r>
              <a:rPr lang="en-US"/>
              <a:t>for managing test cases and generating reports.</a:t>
            </a:r>
            <a:endParaRPr/>
          </a:p>
          <a:p>
            <a:pPr indent="-285750" lvl="0" marL="285750" rtl="0" algn="l">
              <a:lnSpc>
                <a:spcPct val="100000"/>
              </a:lnSpc>
              <a:spcBef>
                <a:spcPts val="1080"/>
              </a:spcBef>
              <a:spcAft>
                <a:spcPts val="0"/>
              </a:spcAft>
              <a:buSzPts val="3480"/>
              <a:buChar char="•"/>
            </a:pPr>
            <a:r>
              <a:rPr lang="en-US"/>
              <a:t>Support for any operating system.</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6"/>
          <p:cNvSpPr txBox="1"/>
          <p:nvPr>
            <p:ph type="title"/>
          </p:nvPr>
        </p:nvSpPr>
        <p:spPr>
          <a:xfrm>
            <a:off x="1484311" y="463550"/>
            <a:ext cx="10018800" cy="1752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4.Components of selenium</a:t>
            </a:r>
            <a:endParaRPr/>
          </a:p>
        </p:txBody>
      </p:sp>
      <p:sp>
        <p:nvSpPr>
          <p:cNvPr id="177" name="Google Shape;177;p6"/>
          <p:cNvSpPr txBox="1"/>
          <p:nvPr>
            <p:ph idx="1" type="body"/>
          </p:nvPr>
        </p:nvSpPr>
        <p:spPr>
          <a:xfrm>
            <a:off x="1484310" y="2018581"/>
            <a:ext cx="10018713" cy="4313208"/>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Selenium IDE.</a:t>
            </a:r>
            <a:endParaRPr/>
          </a:p>
          <a:p>
            <a:pPr indent="-285750" lvl="0" marL="285750" rtl="0" algn="l">
              <a:lnSpc>
                <a:spcPct val="100000"/>
              </a:lnSpc>
              <a:spcBef>
                <a:spcPts val="1080"/>
              </a:spcBef>
              <a:spcAft>
                <a:spcPts val="0"/>
              </a:spcAft>
              <a:buSzPts val="3480"/>
              <a:buChar char="•"/>
            </a:pPr>
            <a:r>
              <a:rPr lang="en-US"/>
              <a:t>Selenium RC.</a:t>
            </a:r>
            <a:endParaRPr/>
          </a:p>
          <a:p>
            <a:pPr indent="-285750" lvl="0" marL="285750" rtl="0" algn="l">
              <a:lnSpc>
                <a:spcPct val="100000"/>
              </a:lnSpc>
              <a:spcBef>
                <a:spcPts val="1080"/>
              </a:spcBef>
              <a:spcAft>
                <a:spcPts val="0"/>
              </a:spcAft>
              <a:buSzPts val="3480"/>
              <a:buChar char="•"/>
            </a:pPr>
            <a:r>
              <a:rPr lang="en-US"/>
              <a:t>Selenium Web Driver.</a:t>
            </a:r>
            <a:endParaRPr/>
          </a:p>
          <a:p>
            <a:pPr indent="-285750" lvl="0" marL="285750" rtl="0" algn="l">
              <a:lnSpc>
                <a:spcPct val="100000"/>
              </a:lnSpc>
              <a:spcBef>
                <a:spcPts val="1080"/>
              </a:spcBef>
              <a:spcAft>
                <a:spcPts val="0"/>
              </a:spcAft>
              <a:buSzPts val="3480"/>
              <a:buChar char="•"/>
            </a:pPr>
            <a:r>
              <a:rPr lang="en-US"/>
              <a:t>Selenium Grid.</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pic>
        <p:nvPicPr>
          <p:cNvPr id="178" name="Google Shape;178;p6"/>
          <p:cNvPicPr preferRelativeResize="0"/>
          <p:nvPr/>
        </p:nvPicPr>
        <p:blipFill rotWithShape="1">
          <a:blip r:embed="rId3">
            <a:alphaModFix/>
          </a:blip>
          <a:srcRect b="0" l="0" r="0" t="0"/>
          <a:stretch/>
        </p:blipFill>
        <p:spPr>
          <a:xfrm>
            <a:off x="7067703" y="4430123"/>
            <a:ext cx="1795154" cy="1534583"/>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179" name="Google Shape;179;p6"/>
          <p:cNvPicPr preferRelativeResize="0"/>
          <p:nvPr/>
        </p:nvPicPr>
        <p:blipFill rotWithShape="1">
          <a:blip r:embed="rId4">
            <a:alphaModFix/>
          </a:blip>
          <a:srcRect b="0" l="0" r="0" t="0"/>
          <a:stretch/>
        </p:blipFill>
        <p:spPr>
          <a:xfrm>
            <a:off x="5089585" y="3036498"/>
            <a:ext cx="1768513" cy="1630393"/>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180" name="Google Shape;180;p6"/>
          <p:cNvPicPr preferRelativeResize="0"/>
          <p:nvPr/>
        </p:nvPicPr>
        <p:blipFill rotWithShape="1">
          <a:blip r:embed="rId5">
            <a:alphaModFix/>
          </a:blip>
          <a:srcRect b="0" l="0" r="0" t="0"/>
          <a:stretch/>
        </p:blipFill>
        <p:spPr>
          <a:xfrm>
            <a:off x="7067703" y="2734443"/>
            <a:ext cx="1739456" cy="1399636"/>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181" name="Google Shape;181;p6"/>
          <p:cNvPicPr preferRelativeResize="0"/>
          <p:nvPr/>
        </p:nvPicPr>
        <p:blipFill rotWithShape="1">
          <a:blip r:embed="rId6">
            <a:alphaModFix/>
          </a:blip>
          <a:srcRect b="0" l="0" r="0" t="0"/>
          <a:stretch/>
        </p:blipFill>
        <p:spPr>
          <a:xfrm>
            <a:off x="9016764" y="3616007"/>
            <a:ext cx="1628231" cy="1628231"/>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1484236" y="234300"/>
            <a:ext cx="10018800" cy="1752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4.Components of selenium (Cotd.)</a:t>
            </a:r>
            <a:endParaRPr/>
          </a:p>
        </p:txBody>
      </p:sp>
      <p:sp>
        <p:nvSpPr>
          <p:cNvPr id="187" name="Google Shape;187;p7"/>
          <p:cNvSpPr txBox="1"/>
          <p:nvPr>
            <p:ph idx="1" type="body"/>
          </p:nvPr>
        </p:nvSpPr>
        <p:spPr>
          <a:xfrm>
            <a:off x="2286568" y="4390844"/>
            <a:ext cx="10018713" cy="461513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1.Selenium IDE.</a:t>
            </a:r>
            <a:endParaRPr/>
          </a:p>
          <a:p>
            <a:pPr indent="-285750" lvl="0" marL="285750" rtl="0" algn="l">
              <a:lnSpc>
                <a:spcPct val="100000"/>
              </a:lnSpc>
              <a:spcBef>
                <a:spcPts val="1080"/>
              </a:spcBef>
              <a:spcAft>
                <a:spcPts val="0"/>
              </a:spcAft>
              <a:buSzPts val="3480"/>
              <a:buChar char="•"/>
            </a:pPr>
            <a:r>
              <a:rPr lang="en-US"/>
              <a:t>IDE stand for </a:t>
            </a:r>
            <a:r>
              <a:rPr b="1" lang="en-US"/>
              <a:t>Integrated Development Environment</a:t>
            </a:r>
            <a:r>
              <a:rPr lang="en-US"/>
              <a:t>.</a:t>
            </a:r>
            <a:endParaRPr/>
          </a:p>
          <a:p>
            <a:pPr indent="-285750" lvl="0" marL="285750" rtl="0" algn="l">
              <a:lnSpc>
                <a:spcPct val="100000"/>
              </a:lnSpc>
              <a:spcBef>
                <a:spcPts val="1080"/>
              </a:spcBef>
              <a:spcAft>
                <a:spcPts val="0"/>
              </a:spcAft>
              <a:buSzPts val="3480"/>
              <a:buChar char="•"/>
            </a:pPr>
            <a:r>
              <a:rPr lang="en-US"/>
              <a:t>It was a Firefox plugin for faster creation of test cases.</a:t>
            </a:r>
            <a:endParaRPr/>
          </a:p>
          <a:p>
            <a:pPr indent="-285750" lvl="0" marL="285750" rtl="0" algn="l">
              <a:lnSpc>
                <a:spcPct val="100000"/>
              </a:lnSpc>
              <a:spcBef>
                <a:spcPts val="1080"/>
              </a:spcBef>
              <a:spcAft>
                <a:spcPts val="0"/>
              </a:spcAft>
              <a:buSzPts val="3480"/>
              <a:buChar char="•"/>
            </a:pPr>
            <a:r>
              <a:rPr lang="en-US"/>
              <a:t>Which is use for Record and Play back the script.</a:t>
            </a:r>
            <a:endParaRPr/>
          </a:p>
          <a:p>
            <a:pPr indent="-285750" lvl="0" marL="285750" rtl="0" algn="l">
              <a:lnSpc>
                <a:spcPct val="100000"/>
              </a:lnSpc>
              <a:spcBef>
                <a:spcPts val="1080"/>
              </a:spcBef>
              <a:spcAft>
                <a:spcPts val="0"/>
              </a:spcAft>
              <a:buSzPts val="3480"/>
              <a:buChar char="•"/>
            </a:pPr>
            <a:r>
              <a:rPr lang="en-US"/>
              <a:t>Selenium IDE is a accountable for user action.</a:t>
            </a:r>
            <a:endParaRPr/>
          </a:p>
          <a:p>
            <a:pPr indent="-285750" lvl="0" marL="285750" rtl="0" algn="l">
              <a:lnSpc>
                <a:spcPct val="100000"/>
              </a:lnSpc>
              <a:spcBef>
                <a:spcPts val="1080"/>
              </a:spcBef>
              <a:spcAft>
                <a:spcPts val="0"/>
              </a:spcAft>
              <a:buSzPts val="3480"/>
              <a:buChar char="•"/>
            </a:pPr>
            <a:r>
              <a:rPr lang="en-US"/>
              <a:t>We can run the recorded scripts against other browsers by using selenium RC.</a:t>
            </a:r>
            <a:endParaRPr/>
          </a:p>
          <a:p>
            <a:pPr indent="-285750" lvl="0" marL="285750" rtl="0" algn="l">
              <a:lnSpc>
                <a:spcPct val="100000"/>
              </a:lnSpc>
              <a:spcBef>
                <a:spcPts val="1080"/>
              </a:spcBef>
              <a:spcAft>
                <a:spcPts val="0"/>
              </a:spcAft>
              <a:buSzPts val="3480"/>
              <a:buChar char="•"/>
            </a:pPr>
            <a:r>
              <a:rPr lang="en-US"/>
              <a:t> Tests recorded via the plugin can be exported in different programming languages like: Java, Ruby, Python etc.</a:t>
            </a:r>
            <a:endParaRPr/>
          </a:p>
          <a:p>
            <a:pPr indent="-64770" lvl="0" marL="28575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a:p>
        </p:txBody>
      </p:sp>
      <p:pic>
        <p:nvPicPr>
          <p:cNvPr id="188" name="Google Shape;188;p7"/>
          <p:cNvPicPr preferRelativeResize="0"/>
          <p:nvPr/>
        </p:nvPicPr>
        <p:blipFill rotWithShape="1">
          <a:blip r:embed="rId3">
            <a:alphaModFix/>
          </a:blip>
          <a:srcRect b="0" l="0" r="0" t="0"/>
          <a:stretch/>
        </p:blipFill>
        <p:spPr>
          <a:xfrm>
            <a:off x="9845316" y="2516755"/>
            <a:ext cx="1657708" cy="1657708"/>
          </a:xfrm>
          <a:prstGeom prst="rect">
            <a:avLst/>
          </a:prstGeom>
          <a:noFill/>
          <a:ln>
            <a:noFill/>
          </a:ln>
          <a:effectLst>
            <a:outerShdw blurRad="292100" rotWithShape="0" algn="tl" dir="2700000" dist="139700">
              <a:srgbClr val="333333">
                <a:alpha val="6352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txBox="1"/>
          <p:nvPr>
            <p:ph idx="1" type="body"/>
          </p:nvPr>
        </p:nvSpPr>
        <p:spPr>
          <a:xfrm>
            <a:off x="1449804" y="1043798"/>
            <a:ext cx="10018713" cy="452886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1.Selenium IDE(contd.) - Features</a:t>
            </a:r>
            <a:endParaRPr/>
          </a:p>
          <a:p>
            <a:pPr indent="0" lvl="0" marL="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a:p>
        </p:txBody>
      </p:sp>
      <p:pic>
        <p:nvPicPr>
          <p:cNvPr id="194" name="Google Shape;194;p8"/>
          <p:cNvPicPr preferRelativeResize="0"/>
          <p:nvPr/>
        </p:nvPicPr>
        <p:blipFill rotWithShape="1">
          <a:blip r:embed="rId3">
            <a:alphaModFix/>
          </a:blip>
          <a:srcRect b="0" l="0" r="0" t="0"/>
          <a:stretch/>
        </p:blipFill>
        <p:spPr>
          <a:xfrm>
            <a:off x="2957901" y="1436118"/>
            <a:ext cx="5182679" cy="5108186"/>
          </a:xfrm>
          <a:prstGeom prst="rect">
            <a:avLst/>
          </a:prstGeom>
          <a:noFill/>
          <a:ln cap="sq" cmpd="sng" w="9525">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idx="1" type="body"/>
          </p:nvPr>
        </p:nvSpPr>
        <p:spPr>
          <a:xfrm>
            <a:off x="1484310" y="1155939"/>
            <a:ext cx="10018713" cy="46352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1.Selenium IDE(contd.) – Pros &amp; Cons</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p:txBody>
      </p:sp>
      <p:sp>
        <p:nvSpPr>
          <p:cNvPr id="200" name="Google Shape;200;p9"/>
          <p:cNvSpPr/>
          <p:nvPr/>
        </p:nvSpPr>
        <p:spPr>
          <a:xfrm>
            <a:off x="1673524" y="1883433"/>
            <a:ext cx="4433977" cy="4327586"/>
          </a:xfrm>
          <a:prstGeom prst="roundRect">
            <a:avLst>
              <a:gd fmla="val 16667" name="adj"/>
            </a:avLst>
          </a:prstGeom>
          <a:solidFill>
            <a:srgbClr val="7F7F7F"/>
          </a:solidFill>
          <a:ln cap="rnd"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orbel"/>
                <a:ea typeface="Corbel"/>
                <a:cs typeface="Corbel"/>
                <a:sym typeface="Corbel"/>
              </a:rPr>
              <a:t>Pros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Very easy to use and install</a:t>
            </a:r>
            <a:r>
              <a:rPr b="0" i="0" lang="en-US" sz="1800" u="none" cap="none" strike="noStrike">
                <a:solidFill>
                  <a:schemeClr val="lt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No programming experience is required, through knowledge of HTML and DOM are needed.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 </a:t>
            </a:r>
            <a:r>
              <a:rPr b="1" i="0" lang="en-US" sz="1800" u="none" cap="none" strike="noStrike">
                <a:solidFill>
                  <a:schemeClr val="lt1"/>
                </a:solidFill>
                <a:latin typeface="Corbel"/>
                <a:ea typeface="Corbel"/>
                <a:cs typeface="Corbel"/>
                <a:sym typeface="Corbel"/>
              </a:rPr>
              <a:t>Can export tests to formats unable in Selenium RC and WebDriver.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Has built-in help and test results reporting module.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Provide supports for extensions.</a:t>
            </a:r>
            <a:endParaRPr b="0" i="0" sz="1400" u="none" cap="none" strike="noStrike">
              <a:solidFill>
                <a:srgbClr val="000000"/>
              </a:solidFill>
              <a:latin typeface="Arial"/>
              <a:ea typeface="Arial"/>
              <a:cs typeface="Arial"/>
              <a:sym typeface="Arial"/>
            </a:endParaRPr>
          </a:p>
          <a:p>
            <a:pPr indent="-171450" lvl="0" marL="28575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01" name="Google Shape;201;p9"/>
          <p:cNvSpPr/>
          <p:nvPr/>
        </p:nvSpPr>
        <p:spPr>
          <a:xfrm>
            <a:off x="6674538" y="1846051"/>
            <a:ext cx="4356340" cy="4364968"/>
          </a:xfrm>
          <a:prstGeom prst="roundRect">
            <a:avLst>
              <a:gd fmla="val 16667" name="adj"/>
            </a:avLst>
          </a:prstGeom>
          <a:solidFill>
            <a:srgbClr val="00B050"/>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orbel"/>
                <a:ea typeface="Corbel"/>
                <a:cs typeface="Corbel"/>
                <a:sym typeface="Corbel"/>
              </a:rPr>
              <a:t>Cons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Available only in Firefox.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Designed only to create prototypes of tests.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No support for iteration and confidential operations.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Test execution is slow compared to that of selenium RC and WebDriver.</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idx="1" type="body"/>
          </p:nvPr>
        </p:nvSpPr>
        <p:spPr>
          <a:xfrm>
            <a:off x="1717222" y="2113471"/>
            <a:ext cx="10018713" cy="305375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                                </a:t>
            </a:r>
            <a:endParaRPr b="1"/>
          </a:p>
          <a:p>
            <a:pPr indent="0" lvl="0" marL="0" rtl="0" algn="l">
              <a:lnSpc>
                <a:spcPct val="100000"/>
              </a:lnSpc>
              <a:spcBef>
                <a:spcPts val="1080"/>
              </a:spcBef>
              <a:spcAft>
                <a:spcPts val="0"/>
              </a:spcAft>
              <a:buSzPts val="3480"/>
              <a:buNone/>
            </a:pPr>
            <a:r>
              <a:rPr b="1" lang="en-US"/>
              <a:t>  </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t/>
            </a:r>
            <a:endParaRPr b="1"/>
          </a:p>
          <a:p>
            <a:pPr indent="-64770" lvl="0" marL="285750" rtl="0" algn="l">
              <a:lnSpc>
                <a:spcPct val="100000"/>
              </a:lnSpc>
              <a:spcBef>
                <a:spcPts val="1080"/>
              </a:spcBef>
              <a:spcAft>
                <a:spcPts val="0"/>
              </a:spcAft>
              <a:buSzPts val="3480"/>
              <a:buNone/>
            </a:pPr>
            <a:r>
              <a:t/>
            </a:r>
            <a:endParaRPr/>
          </a:p>
        </p:txBody>
      </p:sp>
      <p:sp>
        <p:nvSpPr>
          <p:cNvPr id="207" name="Google Shape;207;p10"/>
          <p:cNvSpPr/>
          <p:nvPr/>
        </p:nvSpPr>
        <p:spPr>
          <a:xfrm>
            <a:off x="2340634" y="906100"/>
            <a:ext cx="6096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Selenium IDE(contd.) – Demo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pic>
        <p:nvPicPr>
          <p:cNvPr id="208" name="Google Shape;208;p10"/>
          <p:cNvPicPr preferRelativeResize="0"/>
          <p:nvPr/>
        </p:nvPicPr>
        <p:blipFill rotWithShape="1">
          <a:blip r:embed="rId3">
            <a:alphaModFix/>
          </a:blip>
          <a:srcRect b="0" l="0" r="0" t="0"/>
          <a:stretch/>
        </p:blipFill>
        <p:spPr>
          <a:xfrm>
            <a:off x="6726578" y="428979"/>
            <a:ext cx="1209724" cy="1420795"/>
          </a:xfrm>
          <a:prstGeom prst="rect">
            <a:avLst/>
          </a:prstGeom>
          <a:noFill/>
          <a:ln>
            <a:noFill/>
          </a:ln>
        </p:spPr>
      </p:pic>
      <p:sp>
        <p:nvSpPr>
          <p:cNvPr id="209" name="Google Shape;209;p10"/>
          <p:cNvSpPr/>
          <p:nvPr/>
        </p:nvSpPr>
        <p:spPr>
          <a:xfrm>
            <a:off x="2513161" y="2794806"/>
            <a:ext cx="8062824"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orbel"/>
                <a:ea typeface="Corbel"/>
                <a:cs typeface="Corbel"/>
                <a:sym typeface="Corbel"/>
              </a:rPr>
              <a:t>1.Record and playback selenium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orbel"/>
                <a:ea typeface="Corbel"/>
                <a:cs typeface="Corbel"/>
                <a:sym typeface="Corbel"/>
              </a:rPr>
              <a:t>IDE Test Case </a:t>
            </a:r>
            <a:endParaRPr b="1" i="0" sz="4800" u="none" cap="none" strike="noStrike">
              <a:solidFill>
                <a:schemeClr val="dk1"/>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p:nvPr/>
        </p:nvSpPr>
        <p:spPr>
          <a:xfrm>
            <a:off x="1719531" y="762600"/>
            <a:ext cx="8890958"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Steps to Record Selenium IDE Test Script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400"/>
              <a:buFont typeface="Corbel"/>
              <a:buAutoNum type="arabicPeriod"/>
            </a:pPr>
            <a:r>
              <a:rPr b="0" i="0" lang="en-US" sz="2400" u="none" cap="none" strike="noStrike">
                <a:solidFill>
                  <a:schemeClr val="dk1"/>
                </a:solidFill>
                <a:latin typeface="Corbel"/>
                <a:ea typeface="Corbel"/>
                <a:cs typeface="Corbel"/>
                <a:sym typeface="Corbel"/>
              </a:rPr>
              <a:t>Launch Firefox and Launch Selenium IDE by Clicking on </a:t>
            </a:r>
            <a:r>
              <a:rPr b="1" i="1" lang="en-US" sz="2400" u="none" cap="none" strike="noStrike">
                <a:solidFill>
                  <a:schemeClr val="dk1"/>
                </a:solidFill>
                <a:latin typeface="Corbel"/>
                <a:ea typeface="Corbel"/>
                <a:cs typeface="Corbel"/>
                <a:sym typeface="Corbel"/>
              </a:rPr>
              <a:t>Tools =&gt; Selenium IDE</a:t>
            </a:r>
            <a:r>
              <a:rPr b="0" i="0" lang="en-US" sz="24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400"/>
              <a:buFont typeface="Corbel"/>
              <a:buAutoNum type="arabicPeriod"/>
            </a:pPr>
            <a:r>
              <a:rPr b="0" i="0" lang="en-US" sz="2400" u="none" cap="none" strike="noStrike">
                <a:solidFill>
                  <a:schemeClr val="dk1"/>
                </a:solidFill>
                <a:latin typeface="Corbel"/>
                <a:ea typeface="Corbel"/>
                <a:cs typeface="Corbel"/>
                <a:sym typeface="Corbel"/>
              </a:rPr>
              <a:t>Type the Base URL value: </a:t>
            </a:r>
            <a:r>
              <a:rPr b="1" i="1" lang="en-US" sz="2400" u="sng" cap="none" strike="noStrike">
                <a:solidFill>
                  <a:schemeClr val="dk1"/>
                </a:solidFill>
                <a:latin typeface="Corbel"/>
                <a:ea typeface="Corbel"/>
                <a:cs typeface="Corbel"/>
                <a:sym typeface="Corbel"/>
                <a:hlinkClick r:id="rId3">
                  <a:extLst>
                    <a:ext uri="{A12FA001-AC4F-418D-AE19-62706E023703}">
                      <ahyp:hlinkClr val="tx"/>
                    </a:ext>
                  </a:extLst>
                </a:hlinkClick>
              </a:rPr>
              <a:t>http://demo.guru99.com/v4</a:t>
            </a:r>
            <a:endParaRPr b="1" i="1" sz="2400" u="none" cap="none" strike="noStrike">
              <a:solidFill>
                <a:schemeClr val="dk1"/>
              </a:solidFill>
              <a:latin typeface="Corbel"/>
              <a:ea typeface="Corbel"/>
              <a:cs typeface="Corbel"/>
              <a:sym typeface="Corbel"/>
            </a:endParaRPr>
          </a:p>
          <a:p>
            <a:pPr indent="-457200" lvl="0" marL="457200" marR="0" rtl="0" algn="l">
              <a:lnSpc>
                <a:spcPct val="100000"/>
              </a:lnSpc>
              <a:spcBef>
                <a:spcPts val="0"/>
              </a:spcBef>
              <a:spcAft>
                <a:spcPts val="0"/>
              </a:spcAft>
              <a:buClr>
                <a:schemeClr val="dk1"/>
              </a:buClr>
              <a:buSzPts val="2400"/>
              <a:buFont typeface="Corbel"/>
              <a:buAutoNum type="arabicPeriod"/>
            </a:pPr>
            <a:r>
              <a:rPr b="0" i="0" lang="en-US" sz="2400" u="none" cap="none" strike="noStrike">
                <a:solidFill>
                  <a:schemeClr val="dk1"/>
                </a:solidFill>
                <a:latin typeface="Corbel"/>
                <a:ea typeface="Corbel"/>
                <a:cs typeface="Corbel"/>
                <a:sym typeface="Corbel"/>
              </a:rPr>
              <a:t>Click on the </a:t>
            </a:r>
            <a:r>
              <a:rPr b="1" i="1" lang="en-US" sz="2400" u="none" cap="none" strike="noStrike">
                <a:solidFill>
                  <a:schemeClr val="dk1"/>
                </a:solidFill>
                <a:latin typeface="Corbel"/>
                <a:ea typeface="Corbel"/>
                <a:cs typeface="Corbel"/>
                <a:sym typeface="Corbel"/>
              </a:rPr>
              <a:t>Record</a:t>
            </a:r>
            <a:r>
              <a:rPr b="0" i="1" lang="en-US" sz="2400" u="none" cap="none" strike="noStrike">
                <a:solidFill>
                  <a:schemeClr val="dk1"/>
                </a:solidFill>
                <a:latin typeface="Corbel"/>
                <a:ea typeface="Corbel"/>
                <a:cs typeface="Corbel"/>
                <a:sym typeface="Corbel"/>
              </a:rPr>
              <a:t> </a:t>
            </a:r>
            <a:r>
              <a:rPr b="0" i="0" lang="en-US" sz="2400" u="none" cap="none" strike="noStrike">
                <a:solidFill>
                  <a:schemeClr val="dk1"/>
                </a:solidFill>
                <a:latin typeface="Corbel"/>
                <a:ea typeface="Corbel"/>
                <a:cs typeface="Corbel"/>
                <a:sym typeface="Corbel"/>
              </a:rPr>
              <a:t>button to start the recording of the Test Case.</a:t>
            </a:r>
            <a:endParaRPr b="1" i="0" sz="24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pic>
        <p:nvPicPr>
          <p:cNvPr id="215" name="Google Shape;215;p11"/>
          <p:cNvPicPr preferRelativeResize="0"/>
          <p:nvPr/>
        </p:nvPicPr>
        <p:blipFill rotWithShape="1">
          <a:blip r:embed="rId4">
            <a:alphaModFix/>
          </a:blip>
          <a:srcRect b="0" l="0" r="0" t="0"/>
          <a:stretch/>
        </p:blipFill>
        <p:spPr>
          <a:xfrm>
            <a:off x="2669627" y="3062751"/>
            <a:ext cx="7134599" cy="355061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216" name="Google Shape;216;p11"/>
          <p:cNvSpPr/>
          <p:nvPr/>
        </p:nvSpPr>
        <p:spPr>
          <a:xfrm rot="-1634571">
            <a:off x="2144242" y="4154935"/>
            <a:ext cx="2413654" cy="286496"/>
          </a:xfrm>
          <a:prstGeom prst="notchedRightArrow">
            <a:avLst>
              <a:gd fmla="val 50000" name="adj1"/>
              <a:gd fmla="val 50000" name="adj2"/>
            </a:avLst>
          </a:prstGeom>
          <a:solidFill>
            <a:schemeClr val="accent5"/>
          </a:solidFill>
          <a:ln cap="rnd" cmpd="sng" w="15875">
            <a:solidFill>
              <a:srgbClr val="993F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7" name="Google Shape;217;p11"/>
          <p:cNvSpPr txBox="1"/>
          <p:nvPr/>
        </p:nvSpPr>
        <p:spPr>
          <a:xfrm>
            <a:off x="1807044" y="4917584"/>
            <a:ext cx="191506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URL</a:t>
            </a:r>
            <a:endParaRPr b="0" i="0" sz="1800" u="none" cap="none" strike="noStrike">
              <a:solidFill>
                <a:schemeClr val="dk1"/>
              </a:solidFill>
              <a:latin typeface="Corbel"/>
              <a:ea typeface="Corbel"/>
              <a:cs typeface="Corbel"/>
              <a:sym typeface="Corbel"/>
            </a:endParaRPr>
          </a:p>
        </p:txBody>
      </p:sp>
      <p:sp>
        <p:nvSpPr>
          <p:cNvPr id="218" name="Google Shape;218;p11"/>
          <p:cNvSpPr/>
          <p:nvPr/>
        </p:nvSpPr>
        <p:spPr>
          <a:xfrm rot="9088771">
            <a:off x="9676509" y="3263918"/>
            <a:ext cx="563044" cy="234260"/>
          </a:xfrm>
          <a:prstGeom prst="notchedRightArrow">
            <a:avLst>
              <a:gd fmla="val 50000" name="adj1"/>
              <a:gd fmla="val 50000" name="adj2"/>
            </a:avLst>
          </a:prstGeom>
          <a:solidFill>
            <a:schemeClr val="accent5"/>
          </a:solidFill>
          <a:ln cap="rnd" cmpd="sng" w="15875">
            <a:solidFill>
              <a:srgbClr val="993F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19" name="Google Shape;219;p11"/>
          <p:cNvSpPr txBox="1"/>
          <p:nvPr/>
        </p:nvSpPr>
        <p:spPr>
          <a:xfrm>
            <a:off x="10192216" y="3040570"/>
            <a:ext cx="191506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Record Button</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2"/>
          <p:cNvSpPr txBox="1"/>
          <p:nvPr>
            <p:ph type="title"/>
          </p:nvPr>
        </p:nvSpPr>
        <p:spPr>
          <a:xfrm>
            <a:off x="1484311" y="388190"/>
            <a:ext cx="10018713" cy="79363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orbel"/>
              <a:buNone/>
            </a:pPr>
            <a:r>
              <a:rPr b="1" lang="en-US" sz="2400"/>
              <a:t>Steps to Record Selenium IDE Test Script (contd.)</a:t>
            </a:r>
            <a:br>
              <a:rPr b="1" lang="en-US" sz="2400"/>
            </a:br>
            <a:endParaRPr sz="2400"/>
          </a:p>
        </p:txBody>
      </p:sp>
      <p:sp>
        <p:nvSpPr>
          <p:cNvPr id="225" name="Google Shape;225;p12"/>
          <p:cNvSpPr txBox="1"/>
          <p:nvPr>
            <p:ph idx="1" type="body"/>
          </p:nvPr>
        </p:nvSpPr>
        <p:spPr>
          <a:xfrm>
            <a:off x="1484310" y="1259457"/>
            <a:ext cx="10018713" cy="453174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640"/>
              <a:buNone/>
            </a:pPr>
            <a:r>
              <a:rPr lang="en-US" sz="3200">
                <a:solidFill>
                  <a:srgbClr val="688726"/>
                </a:solidFill>
              </a:rPr>
              <a:t>4</a:t>
            </a:r>
            <a:r>
              <a:rPr lang="en-US"/>
              <a:t>.In Firefox, navigate to </a:t>
            </a:r>
            <a:r>
              <a:rPr b="1" i="1" lang="en-US" u="sng">
                <a:solidFill>
                  <a:schemeClr val="hlink"/>
                </a:solidFill>
                <a:hlinkClick r:id="rId3"/>
              </a:rPr>
              <a:t>http://demo.guru99.com/v4</a:t>
            </a:r>
            <a:r>
              <a:rPr b="1" i="1" lang="en-US"/>
              <a:t>  </a:t>
            </a:r>
            <a:r>
              <a:rPr lang="en-US"/>
              <a:t>Firefox should take you to the page similar to the one shown below.</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p:txBody>
      </p:sp>
      <p:pic>
        <p:nvPicPr>
          <p:cNvPr id="226" name="Google Shape;226;p12"/>
          <p:cNvPicPr preferRelativeResize="0"/>
          <p:nvPr/>
        </p:nvPicPr>
        <p:blipFill rotWithShape="1">
          <a:blip r:embed="rId4">
            <a:alphaModFix/>
          </a:blip>
          <a:srcRect b="0" l="0" r="0" t="0"/>
          <a:stretch/>
        </p:blipFill>
        <p:spPr>
          <a:xfrm>
            <a:off x="2802573" y="2326256"/>
            <a:ext cx="7382186" cy="3919267"/>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13"/>
          <p:cNvPicPr preferRelativeResize="0"/>
          <p:nvPr/>
        </p:nvPicPr>
        <p:blipFill rotWithShape="1">
          <a:blip r:embed="rId3">
            <a:alphaModFix/>
          </a:blip>
          <a:srcRect b="0" l="0" r="0" t="0"/>
          <a:stretch/>
        </p:blipFill>
        <p:spPr>
          <a:xfrm>
            <a:off x="2904225" y="2421146"/>
            <a:ext cx="7599873" cy="424707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232" name="Google Shape;232;p13"/>
          <p:cNvSpPr/>
          <p:nvPr/>
        </p:nvSpPr>
        <p:spPr>
          <a:xfrm>
            <a:off x="2142225" y="506429"/>
            <a:ext cx="912387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688726"/>
                </a:solidFill>
                <a:latin typeface="Corbel"/>
                <a:ea typeface="Corbel"/>
                <a:cs typeface="Corbel"/>
                <a:sym typeface="Corbel"/>
              </a:rPr>
              <a:t>5</a:t>
            </a:r>
            <a:r>
              <a:rPr b="0" i="0" lang="en-US" sz="2400" u="none" cap="none" strike="noStrike">
                <a:solidFill>
                  <a:schemeClr val="dk1"/>
                </a:solidFill>
                <a:latin typeface="Corbel"/>
                <a:ea typeface="Corbel"/>
                <a:cs typeface="Corbel"/>
                <a:sym typeface="Corbel"/>
              </a:rPr>
              <a:t>.Right-click on any blank space within the page, this will bring up the Selenium IDE context menu. Select the </a:t>
            </a:r>
            <a:r>
              <a:rPr b="1" i="1" lang="en-US" sz="2400" u="none" cap="none" strike="noStrike">
                <a:solidFill>
                  <a:schemeClr val="dk1"/>
                </a:solidFill>
                <a:latin typeface="Corbel"/>
                <a:ea typeface="Corbel"/>
                <a:cs typeface="Corbel"/>
                <a:sym typeface="Corbel"/>
              </a:rPr>
              <a:t>Show IDE</a:t>
            </a:r>
            <a:r>
              <a:rPr b="0" i="0" lang="en-US" sz="2400" u="none" cap="none" strike="noStrike">
                <a:solidFill>
                  <a:schemeClr val="dk1"/>
                </a:solidFill>
                <a:latin typeface="Corbel"/>
                <a:ea typeface="Corbel"/>
                <a:cs typeface="Corbel"/>
                <a:sym typeface="Corbel"/>
              </a:rPr>
              <a:t> option. Then, select </a:t>
            </a:r>
            <a:r>
              <a:rPr b="1" i="1" lang="en-US" sz="2400" u="none" cap="none" strike="noStrike">
                <a:solidFill>
                  <a:schemeClr val="dk1"/>
                </a:solidFill>
                <a:latin typeface="Corbel"/>
                <a:ea typeface="Corbel"/>
                <a:cs typeface="Corbel"/>
                <a:sym typeface="Corbel"/>
              </a:rPr>
              <a:t>assert </a:t>
            </a:r>
            <a:r>
              <a:rPr b="0" i="0" lang="en-US" sz="2400" u="none" cap="none" strike="noStrike">
                <a:solidFill>
                  <a:schemeClr val="dk1"/>
                </a:solidFill>
                <a:latin typeface="Corbel"/>
                <a:ea typeface="Corbel"/>
                <a:cs typeface="Corbel"/>
                <a:sym typeface="Corbel"/>
              </a:rPr>
              <a:t>then, select </a:t>
            </a:r>
            <a:r>
              <a:rPr b="1" i="1" lang="en-US" sz="2400" u="none" cap="none" strike="noStrike">
                <a:solidFill>
                  <a:schemeClr val="dk1"/>
                </a:solidFill>
                <a:latin typeface="Corbel"/>
                <a:ea typeface="Corbel"/>
                <a:cs typeface="Corbel"/>
                <a:sym typeface="Corbel"/>
              </a:rPr>
              <a:t>Title </a:t>
            </a:r>
            <a:r>
              <a:rPr b="0" i="0" lang="en-US" sz="2400" u="none" cap="none" strike="noStrike">
                <a:solidFill>
                  <a:schemeClr val="dk1"/>
                </a:solidFill>
                <a:latin typeface="Corbel"/>
                <a:ea typeface="Corbel"/>
                <a:cs typeface="Corbel"/>
                <a:sym typeface="Corbel"/>
              </a:rPr>
              <a:t>This is a command that makes sure that the page title is correct.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1484310" y="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688726"/>
              </a:buClr>
              <a:buSzPts val="2400"/>
              <a:buFont typeface="Corbel"/>
              <a:buNone/>
            </a:pPr>
            <a:r>
              <a:rPr b="1" lang="en-US" sz="2400">
                <a:solidFill>
                  <a:srgbClr val="688726"/>
                </a:solidFill>
              </a:rPr>
              <a:t>6.</a:t>
            </a:r>
            <a:r>
              <a:rPr lang="en-US" sz="2400"/>
              <a:t>Enter Username </a:t>
            </a:r>
            <a:r>
              <a:rPr b="1" i="1" lang="en-US" sz="2400"/>
              <a:t>User1</a:t>
            </a:r>
            <a:r>
              <a:rPr i="1" lang="en-US" sz="2400"/>
              <a:t> </a:t>
            </a:r>
            <a:r>
              <a:rPr lang="en-US" sz="2400"/>
              <a:t>in the first text box and Password </a:t>
            </a:r>
            <a:r>
              <a:rPr b="1" i="1" lang="en-US" sz="2400"/>
              <a:t>Password1</a:t>
            </a:r>
            <a:r>
              <a:rPr lang="en-US" sz="2400"/>
              <a:t> in the second text box. Then click on </a:t>
            </a:r>
            <a:r>
              <a:rPr b="1" i="1" lang="en-US" sz="2400"/>
              <a:t>Login</a:t>
            </a:r>
            <a:r>
              <a:rPr i="1" lang="en-US" sz="2400"/>
              <a:t> </a:t>
            </a:r>
            <a:r>
              <a:rPr lang="en-US" sz="2400"/>
              <a:t>button to submit.</a:t>
            </a:r>
            <a:endParaRPr sz="2400"/>
          </a:p>
        </p:txBody>
      </p:sp>
      <p:sp>
        <p:nvSpPr>
          <p:cNvPr id="238" name="Google Shape;238;p14"/>
          <p:cNvSpPr/>
          <p:nvPr/>
        </p:nvSpPr>
        <p:spPr>
          <a:xfrm>
            <a:off x="1484310" y="1613871"/>
            <a:ext cx="9859425"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688726"/>
                </a:solidFill>
                <a:latin typeface="Corbel"/>
                <a:ea typeface="Corbel"/>
                <a:cs typeface="Corbel"/>
                <a:sym typeface="Corbel"/>
              </a:rPr>
              <a:t>7</a:t>
            </a:r>
            <a:r>
              <a:rPr b="0" i="0" lang="en-US" sz="2400" u="none" cap="none" strike="noStrike">
                <a:solidFill>
                  <a:schemeClr val="dk1"/>
                </a:solidFill>
                <a:latin typeface="Corbel"/>
                <a:ea typeface="Corbel"/>
                <a:cs typeface="Corbel"/>
                <a:sym typeface="Corbel"/>
              </a:rPr>
              <a:t>. Stop the recording by clicking on the </a:t>
            </a:r>
            <a:r>
              <a:rPr b="1" i="1" lang="en-US" sz="2400" u="none" cap="none" strike="noStrike">
                <a:solidFill>
                  <a:schemeClr val="dk1"/>
                </a:solidFill>
                <a:latin typeface="Corbel"/>
                <a:ea typeface="Corbel"/>
                <a:cs typeface="Corbel"/>
                <a:sym typeface="Corbel"/>
              </a:rPr>
              <a:t>Record</a:t>
            </a:r>
            <a:r>
              <a:rPr b="0" i="0" lang="en-US" sz="2400" u="none" cap="none" strike="noStrike">
                <a:solidFill>
                  <a:schemeClr val="dk1"/>
                </a:solidFill>
                <a:latin typeface="Corbel"/>
                <a:ea typeface="Corbel"/>
                <a:cs typeface="Corbel"/>
                <a:sym typeface="Corbel"/>
              </a:rPr>
              <a:t> button. In the </a:t>
            </a:r>
            <a:r>
              <a:rPr b="1" i="1" lang="en-US" sz="2400" u="none" cap="none" strike="noStrike">
                <a:solidFill>
                  <a:schemeClr val="dk1"/>
                </a:solidFill>
                <a:latin typeface="Corbel"/>
                <a:ea typeface="Corbel"/>
                <a:cs typeface="Corbel"/>
                <a:sym typeface="Corbel"/>
              </a:rPr>
              <a:t>Table</a:t>
            </a:r>
            <a:r>
              <a:rPr b="0" i="0" lang="en-US" sz="2400" u="none" cap="none" strike="noStrike">
                <a:solidFill>
                  <a:schemeClr val="dk1"/>
                </a:solidFill>
                <a:latin typeface="Corbel"/>
                <a:ea typeface="Corbel"/>
                <a:cs typeface="Corbel"/>
                <a:sym typeface="Corbel"/>
              </a:rPr>
              <a:t> tab of </a:t>
            </a:r>
            <a:r>
              <a:rPr b="1" i="1" lang="en-US" sz="2400" u="sng" cap="none" strike="noStrike">
                <a:solidFill>
                  <a:schemeClr val="dk1"/>
                </a:solidFill>
                <a:latin typeface="Corbel"/>
                <a:ea typeface="Corbel"/>
                <a:cs typeface="Corbel"/>
                <a:sym typeface="Corbel"/>
                <a:hlinkClick r:id="rId3">
                  <a:extLst>
                    <a:ext uri="{A12FA001-AC4F-418D-AE19-62706E023703}">
                      <ahyp:hlinkClr val="tx"/>
                    </a:ext>
                  </a:extLst>
                </a:hlinkClick>
              </a:rPr>
              <a:t>Test Step Pane</a:t>
            </a:r>
            <a:r>
              <a:rPr b="0" i="0" lang="en-US" sz="2400" u="none" cap="none" strike="noStrike">
                <a:solidFill>
                  <a:schemeClr val="dk1"/>
                </a:solidFill>
                <a:latin typeface="Corbel"/>
                <a:ea typeface="Corbel"/>
                <a:cs typeface="Corbel"/>
                <a:sym typeface="Corbel"/>
              </a:rPr>
              <a:t> you can see the commands recorded by selenium IDE.</a:t>
            </a:r>
            <a:endParaRPr b="0" i="0" sz="2400" u="none" cap="none" strike="noStrike">
              <a:solidFill>
                <a:schemeClr val="dk1"/>
              </a:solidFill>
              <a:latin typeface="Corbel"/>
              <a:ea typeface="Corbel"/>
              <a:cs typeface="Corbel"/>
              <a:sym typeface="Corbel"/>
            </a:endParaRPr>
          </a:p>
        </p:txBody>
      </p:sp>
      <p:pic>
        <p:nvPicPr>
          <p:cNvPr id="239" name="Google Shape;239;p14"/>
          <p:cNvPicPr preferRelativeResize="0"/>
          <p:nvPr/>
        </p:nvPicPr>
        <p:blipFill rotWithShape="1">
          <a:blip r:embed="rId4">
            <a:alphaModFix/>
          </a:blip>
          <a:srcRect b="0" l="0" r="0" t="0"/>
          <a:stretch/>
        </p:blipFill>
        <p:spPr>
          <a:xfrm>
            <a:off x="2741210" y="2576422"/>
            <a:ext cx="8162579" cy="3850257"/>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240" name="Google Shape;240;p14"/>
          <p:cNvSpPr/>
          <p:nvPr/>
        </p:nvSpPr>
        <p:spPr>
          <a:xfrm>
            <a:off x="2286000" y="6173274"/>
            <a:ext cx="2984400" cy="525900"/>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41" name="Google Shape;241;p14"/>
          <p:cNvSpPr/>
          <p:nvPr/>
        </p:nvSpPr>
        <p:spPr>
          <a:xfrm>
            <a:off x="3726612" y="2967487"/>
            <a:ext cx="5814203" cy="1820173"/>
          </a:xfrm>
          <a:prstGeom prst="rect">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6960"/>
              <a:buNone/>
            </a:pPr>
            <a:r>
              <a:rPr b="1" lang="en-US" sz="4800">
                <a:solidFill>
                  <a:srgbClr val="333333"/>
                </a:solidFill>
                <a:latin typeface="Encode Sans"/>
                <a:ea typeface="Encode Sans"/>
                <a:cs typeface="Encode Sans"/>
                <a:sym typeface="Encode Sans"/>
              </a:rPr>
              <a:t>2.Steps to Save Selenium </a:t>
            </a:r>
            <a:endParaRPr b="1" sz="4800">
              <a:solidFill>
                <a:srgbClr val="333333"/>
              </a:solidFill>
              <a:latin typeface="Encode Sans"/>
              <a:ea typeface="Encode Sans"/>
              <a:cs typeface="Encode Sans"/>
              <a:sym typeface="Encode Sans"/>
            </a:endParaRPr>
          </a:p>
          <a:p>
            <a:pPr indent="0" lvl="0" marL="0" rtl="0" algn="ctr">
              <a:lnSpc>
                <a:spcPct val="100000"/>
              </a:lnSpc>
              <a:spcBef>
                <a:spcPts val="1560"/>
              </a:spcBef>
              <a:spcAft>
                <a:spcPts val="0"/>
              </a:spcAft>
              <a:buSzPts val="6960"/>
              <a:buNone/>
            </a:pPr>
            <a:r>
              <a:rPr b="1" lang="en-US" sz="4800">
                <a:solidFill>
                  <a:srgbClr val="333333"/>
                </a:solidFill>
                <a:latin typeface="Encode Sans"/>
                <a:ea typeface="Encode Sans"/>
                <a:cs typeface="Encode Sans"/>
                <a:sym typeface="Encode Sans"/>
              </a:rPr>
              <a:t>IDE Test Script</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txBox="1"/>
          <p:nvPr>
            <p:ph type="title"/>
          </p:nvPr>
        </p:nvSpPr>
        <p:spPr>
          <a:xfrm>
            <a:off x="1484311" y="685800"/>
            <a:ext cx="10018713" cy="116025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lang="en-US" sz="2400"/>
              <a:t>1. Save the test case for future use by clicking on </a:t>
            </a:r>
            <a:r>
              <a:rPr b="1" i="1" lang="en-US" sz="2400"/>
              <a:t>Save project icon </a:t>
            </a:r>
            <a:r>
              <a:rPr lang="en-US" sz="2400"/>
              <a:t>or right click and</a:t>
            </a:r>
            <a:r>
              <a:rPr b="1" i="1" lang="en-US" sz="2400"/>
              <a:t> click save as</a:t>
            </a:r>
            <a:endParaRPr b="1" i="1" sz="2400"/>
          </a:p>
        </p:txBody>
      </p:sp>
      <p:pic>
        <p:nvPicPr>
          <p:cNvPr id="252" name="Google Shape;252;p16"/>
          <p:cNvPicPr preferRelativeResize="0"/>
          <p:nvPr/>
        </p:nvPicPr>
        <p:blipFill rotWithShape="1">
          <a:blip r:embed="rId3">
            <a:alphaModFix/>
          </a:blip>
          <a:srcRect b="0" l="0" r="0" t="0"/>
          <a:stretch/>
        </p:blipFill>
        <p:spPr>
          <a:xfrm>
            <a:off x="2337759" y="1709146"/>
            <a:ext cx="5736566" cy="1646530"/>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253" name="Google Shape;253;p16"/>
          <p:cNvSpPr/>
          <p:nvPr/>
        </p:nvSpPr>
        <p:spPr>
          <a:xfrm rot="9560923">
            <a:off x="7494964" y="1753170"/>
            <a:ext cx="752345" cy="307917"/>
          </a:xfrm>
          <a:prstGeom prst="notchedRightArrow">
            <a:avLst>
              <a:gd fmla="val 50000" name="adj1"/>
              <a:gd fmla="val 50000" name="adj2"/>
            </a:avLst>
          </a:prstGeom>
          <a:solidFill>
            <a:schemeClr val="accent5"/>
          </a:solidFill>
          <a:ln cap="rnd" cmpd="sng" w="15875">
            <a:solidFill>
              <a:srgbClr val="993F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54" name="Google Shape;254;p16"/>
          <p:cNvSpPr txBox="1"/>
          <p:nvPr/>
        </p:nvSpPr>
        <p:spPr>
          <a:xfrm>
            <a:off x="8277437" y="1661387"/>
            <a:ext cx="191506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Save project icon</a:t>
            </a:r>
            <a:endParaRPr b="0" i="0" sz="1800" u="none" cap="none" strike="noStrike">
              <a:solidFill>
                <a:schemeClr val="dk1"/>
              </a:solidFill>
              <a:latin typeface="Corbel"/>
              <a:ea typeface="Corbel"/>
              <a:cs typeface="Corbel"/>
              <a:sym typeface="Corbel"/>
            </a:endParaRPr>
          </a:p>
        </p:txBody>
      </p:sp>
      <p:pic>
        <p:nvPicPr>
          <p:cNvPr id="255" name="Google Shape;255;p16"/>
          <p:cNvPicPr preferRelativeResize="0"/>
          <p:nvPr/>
        </p:nvPicPr>
        <p:blipFill rotWithShape="1">
          <a:blip r:embed="rId4">
            <a:alphaModFix/>
          </a:blip>
          <a:srcRect b="0" l="0" r="0" t="0"/>
          <a:stretch/>
        </p:blipFill>
        <p:spPr>
          <a:xfrm>
            <a:off x="2765159" y="3744979"/>
            <a:ext cx="4575921" cy="290922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lang="en-US" sz="2400"/>
              <a:t>2. Choose your location, and then name the test  as </a:t>
            </a:r>
            <a:r>
              <a:rPr b="1" i="1" lang="en-US" sz="2400"/>
              <a:t>Invalid Login</a:t>
            </a:r>
            <a:r>
              <a:rPr lang="en-US" sz="2400"/>
              <a:t>. Click the </a:t>
            </a:r>
            <a:r>
              <a:rPr b="1" i="1" lang="en-US" sz="2400"/>
              <a:t>Save</a:t>
            </a:r>
            <a:r>
              <a:rPr lang="en-US" sz="2400"/>
              <a:t> button.</a:t>
            </a:r>
            <a:endParaRPr sz="2400"/>
          </a:p>
        </p:txBody>
      </p:sp>
      <p:pic>
        <p:nvPicPr>
          <p:cNvPr id="261" name="Google Shape;261;p17"/>
          <p:cNvPicPr preferRelativeResize="0"/>
          <p:nvPr>
            <p:ph idx="1" type="body"/>
          </p:nvPr>
        </p:nvPicPr>
        <p:blipFill rotWithShape="1">
          <a:blip r:embed="rId3">
            <a:alphaModFix/>
          </a:blip>
          <a:srcRect b="0" l="0" r="0" t="0"/>
          <a:stretch/>
        </p:blipFill>
        <p:spPr>
          <a:xfrm>
            <a:off x="2613364" y="2020019"/>
            <a:ext cx="6884318" cy="3940834"/>
          </a:xfrm>
          <a:prstGeom prst="rect">
            <a:avLst/>
          </a:prstGeom>
          <a:noFill/>
          <a:ln>
            <a:noFill/>
          </a:ln>
        </p:spPr>
      </p:pic>
      <p:sp>
        <p:nvSpPr>
          <p:cNvPr id="262" name="Google Shape;262;p17"/>
          <p:cNvSpPr/>
          <p:nvPr/>
        </p:nvSpPr>
        <p:spPr>
          <a:xfrm>
            <a:off x="3467819" y="4994694"/>
            <a:ext cx="1552755" cy="284672"/>
          </a:xfrm>
          <a:prstGeom prst="ellipse">
            <a:avLst/>
          </a:pr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3" name="Google Shape;263;p17"/>
          <p:cNvSpPr/>
          <p:nvPr/>
        </p:nvSpPr>
        <p:spPr>
          <a:xfrm rot="-8788263">
            <a:off x="8247765" y="5820008"/>
            <a:ext cx="667606" cy="307917"/>
          </a:xfrm>
          <a:prstGeom prst="notchedRightArrow">
            <a:avLst>
              <a:gd fmla="val 50000" name="adj1"/>
              <a:gd fmla="val 50000" name="adj2"/>
            </a:avLst>
          </a:prstGeom>
          <a:solidFill>
            <a:schemeClr val="accent5"/>
          </a:solidFill>
          <a:ln cap="rnd" cmpd="sng" w="15875">
            <a:solidFill>
              <a:srgbClr val="993F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64" name="Google Shape;264;p17"/>
          <p:cNvSpPr txBox="1"/>
          <p:nvPr/>
        </p:nvSpPr>
        <p:spPr>
          <a:xfrm>
            <a:off x="8944869" y="6102021"/>
            <a:ext cx="191506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Save</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18"/>
          <p:cNvPicPr preferRelativeResize="0"/>
          <p:nvPr>
            <p:ph idx="1" type="body"/>
          </p:nvPr>
        </p:nvPicPr>
        <p:blipFill rotWithShape="1">
          <a:blip r:embed="rId3">
            <a:alphaModFix/>
          </a:blip>
          <a:srcRect b="0" l="0" r="0" t="0"/>
          <a:stretch/>
        </p:blipFill>
        <p:spPr>
          <a:xfrm>
            <a:off x="2326195" y="2576134"/>
            <a:ext cx="7628689" cy="1684166"/>
          </a:xfrm>
          <a:prstGeom prst="rect">
            <a:avLst/>
          </a:prstGeom>
          <a:noFill/>
          <a:ln>
            <a:noFill/>
          </a:ln>
        </p:spPr>
      </p:pic>
      <p:sp>
        <p:nvSpPr>
          <p:cNvPr id="270" name="Google Shape;270;p18"/>
          <p:cNvSpPr/>
          <p:nvPr/>
        </p:nvSpPr>
        <p:spPr>
          <a:xfrm>
            <a:off x="2000406" y="1139489"/>
            <a:ext cx="446872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333333"/>
                </a:solidFill>
                <a:latin typeface="Encode Sans"/>
                <a:ea typeface="Encode Sans"/>
                <a:cs typeface="Encode Sans"/>
                <a:sym typeface="Encode Sans"/>
              </a:rPr>
              <a:t>3. The file was saved as HTML</a:t>
            </a:r>
            <a:r>
              <a:rPr b="0" i="0" lang="en-US" sz="1800" u="none" cap="none" strike="noStrike">
                <a:solidFill>
                  <a:srgbClr val="333333"/>
                </a:solidFill>
                <a:latin typeface="Encode Sans"/>
                <a:ea typeface="Encode Sans"/>
                <a:cs typeface="Encode Sans"/>
                <a:sym typeface="Encode Sans"/>
              </a:rPr>
              <a:t>.</a:t>
            </a:r>
            <a:endParaRPr b="0" i="0" sz="1800" u="none" cap="none" strike="noStrike">
              <a:solidFill>
                <a:schemeClr val="dk1"/>
              </a:solidFill>
              <a:latin typeface="Corbel"/>
              <a:ea typeface="Corbel"/>
              <a:cs typeface="Corbel"/>
              <a:sym typeface="Corbel"/>
            </a:endParaRPr>
          </a:p>
        </p:txBody>
      </p:sp>
      <p:sp>
        <p:nvSpPr>
          <p:cNvPr id="271" name="Google Shape;271;p18"/>
          <p:cNvSpPr/>
          <p:nvPr/>
        </p:nvSpPr>
        <p:spPr>
          <a:xfrm>
            <a:off x="7082287" y="2820838"/>
            <a:ext cx="1682151" cy="431320"/>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9"/>
          <p:cNvSpPr/>
          <p:nvPr/>
        </p:nvSpPr>
        <p:spPr>
          <a:xfrm>
            <a:off x="3001659" y="2364439"/>
            <a:ext cx="7432612"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333333"/>
                </a:solidFill>
                <a:latin typeface="Encode Sans"/>
                <a:ea typeface="Encode Sans"/>
                <a:cs typeface="Encode Sans"/>
                <a:sym typeface="Encode Sans"/>
              </a:rPr>
              <a:t>3.Steps to PlayBack </a:t>
            </a:r>
            <a:endParaRPr b="1" i="0" sz="4800" u="none" cap="none" strike="noStrike">
              <a:solidFill>
                <a:srgbClr val="333333"/>
              </a:solidFill>
              <a:latin typeface="Encode Sans"/>
              <a:ea typeface="Encode Sans"/>
              <a:cs typeface="Encode Sans"/>
              <a:sym typeface="Encode Sans"/>
            </a:endParaRPr>
          </a:p>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333333"/>
                </a:solidFill>
                <a:latin typeface="Encode Sans"/>
                <a:ea typeface="Encode Sans"/>
                <a:cs typeface="Encode Sans"/>
                <a:sym typeface="Encode Sans"/>
              </a:rPr>
              <a:t>Selenium IDE Test Script</a:t>
            </a:r>
            <a:endParaRPr b="1" i="0" sz="4800" u="none" cap="none" strike="noStrike">
              <a:solidFill>
                <a:srgbClr val="333333"/>
              </a:solidFill>
              <a:latin typeface="Encode Sans"/>
              <a:ea typeface="Encode Sans"/>
              <a:cs typeface="Encode Sans"/>
              <a:sym typeface="Encod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20"/>
          <p:cNvPicPr preferRelativeResize="0"/>
          <p:nvPr/>
        </p:nvPicPr>
        <p:blipFill rotWithShape="1">
          <a:blip r:embed="rId3">
            <a:alphaModFix/>
          </a:blip>
          <a:srcRect b="0" l="0" r="0" t="0"/>
          <a:stretch/>
        </p:blipFill>
        <p:spPr>
          <a:xfrm>
            <a:off x="2842500" y="1684838"/>
            <a:ext cx="6058425" cy="1021168"/>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282" name="Google Shape;282;p20"/>
          <p:cNvSpPr/>
          <p:nvPr/>
        </p:nvSpPr>
        <p:spPr>
          <a:xfrm rot="1869759">
            <a:off x="3287577" y="1403285"/>
            <a:ext cx="667606" cy="307917"/>
          </a:xfrm>
          <a:prstGeom prst="notchedRightArrow">
            <a:avLst>
              <a:gd fmla="val 50000" name="adj1"/>
              <a:gd fmla="val 50000" name="adj2"/>
            </a:avLst>
          </a:prstGeom>
          <a:solidFill>
            <a:schemeClr val="accent5"/>
          </a:solidFill>
          <a:ln cap="rnd" cmpd="sng" w="15875">
            <a:solidFill>
              <a:srgbClr val="993F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3" name="Google Shape;283;p20"/>
          <p:cNvSpPr txBox="1"/>
          <p:nvPr/>
        </p:nvSpPr>
        <p:spPr>
          <a:xfrm>
            <a:off x="2759730" y="977931"/>
            <a:ext cx="191506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Run all tests</a:t>
            </a:r>
            <a:endParaRPr b="0" i="0" sz="1800" u="none" cap="none" strike="noStrike">
              <a:solidFill>
                <a:schemeClr val="dk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1"/>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1.Selenium IDE(contd.) - Selenium IDE Commands (Selenese)</a:t>
            </a:r>
            <a:br>
              <a:rPr b="1" lang="en-US" sz="2400"/>
            </a:br>
            <a:endParaRPr sz="2400"/>
          </a:p>
        </p:txBody>
      </p:sp>
      <p:sp>
        <p:nvSpPr>
          <p:cNvPr id="289" name="Google Shape;289;p21"/>
          <p:cNvSpPr/>
          <p:nvPr/>
        </p:nvSpPr>
        <p:spPr>
          <a:xfrm>
            <a:off x="1694506" y="1929439"/>
            <a:ext cx="2851615" cy="4264325"/>
          </a:xfrm>
          <a:prstGeom prst="roundRect">
            <a:avLst>
              <a:gd fmla="val 16667" name="adj"/>
            </a:avLst>
          </a:prstGeom>
          <a:solidFill>
            <a:srgbClr val="979D9F"/>
          </a:solidFill>
          <a:ln cap="rnd"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orbel"/>
                <a:ea typeface="Corbel"/>
                <a:cs typeface="Corbel"/>
                <a:sym typeface="Corbel"/>
              </a:rPr>
              <a:t>1.Actions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rbel"/>
                <a:ea typeface="Corbel"/>
                <a:cs typeface="Corbel"/>
                <a:sym typeface="Corbel"/>
              </a:rPr>
              <a:t>Generally manipulate the state of the application.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orbel"/>
                <a:ea typeface="Corbel"/>
                <a:cs typeface="Corbel"/>
                <a:sym typeface="Corbel"/>
              </a:rPr>
              <a:t>Eg:-type this box, click this link or select option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rbel"/>
                <a:ea typeface="Corbel"/>
                <a:cs typeface="Corbel"/>
                <a:sym typeface="Corbel"/>
              </a:rPr>
              <a:t>If an Action fails current test is stopped.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rbel"/>
                <a:ea typeface="Corbel"/>
                <a:cs typeface="Corbel"/>
                <a:sym typeface="Corbel"/>
              </a:rPr>
              <a:t>Many Actions can be called with the </a:t>
            </a:r>
            <a:r>
              <a:rPr b="1" i="0" lang="en-US" sz="1600" u="none" cap="none" strike="noStrike">
                <a:solidFill>
                  <a:schemeClr val="lt1"/>
                </a:solidFill>
                <a:latin typeface="Corbel"/>
                <a:ea typeface="Corbel"/>
                <a:cs typeface="Corbel"/>
                <a:sym typeface="Corbel"/>
              </a:rPr>
              <a:t>AndWait</a:t>
            </a:r>
            <a:r>
              <a:rPr b="0" i="0" lang="en-US" sz="1600" u="none" cap="none" strike="noStrike">
                <a:solidFill>
                  <a:schemeClr val="lt1"/>
                </a:solidFill>
                <a:latin typeface="Corbel"/>
                <a:ea typeface="Corbel"/>
                <a:cs typeface="Corbel"/>
                <a:sym typeface="Corbel"/>
              </a:rPr>
              <a:t> suffix, </a:t>
            </a:r>
            <a:endParaRPr b="0" i="0" sz="16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orbel"/>
                <a:ea typeface="Corbel"/>
                <a:cs typeface="Corbel"/>
                <a:sym typeface="Corbel"/>
              </a:rPr>
              <a:t>e.g. </a:t>
            </a:r>
            <a:r>
              <a:rPr b="1" i="0" lang="en-US" sz="1600" u="none" cap="none" strike="noStrike">
                <a:solidFill>
                  <a:schemeClr val="lt1"/>
                </a:solidFill>
                <a:latin typeface="Corbel"/>
                <a:ea typeface="Corbel"/>
                <a:cs typeface="Corbel"/>
                <a:sym typeface="Corbel"/>
              </a:rPr>
              <a:t>clickAndWait</a:t>
            </a:r>
            <a:r>
              <a:rPr b="0" i="0" lang="en-US" sz="1600" u="none" cap="none" strike="noStrike">
                <a:solidFill>
                  <a:schemeClr val="lt1"/>
                </a:solidFill>
                <a:latin typeface="Corbel"/>
                <a:ea typeface="Corbel"/>
                <a:cs typeface="Corbel"/>
                <a:sym typeface="Corbel"/>
              </a:rPr>
              <a:t>, </a:t>
            </a:r>
            <a:r>
              <a:rPr b="1" i="0" lang="en-US" sz="1600" u="none" cap="none" strike="noStrike">
                <a:solidFill>
                  <a:schemeClr val="lt1"/>
                </a:solidFill>
                <a:latin typeface="Corbel"/>
                <a:ea typeface="Corbel"/>
                <a:cs typeface="Corbel"/>
                <a:sym typeface="Corbel"/>
              </a:rPr>
              <a:t>typeAndWait</a:t>
            </a:r>
            <a:r>
              <a:rPr b="0" i="0" lang="en-US" sz="1600" u="none" cap="none" strike="noStrike">
                <a:solidFill>
                  <a:schemeClr val="lt1"/>
                </a:solidFill>
                <a:latin typeface="Corbel"/>
                <a:ea typeface="Corbel"/>
                <a:cs typeface="Corbel"/>
                <a:sym typeface="Corbel"/>
              </a:rPr>
              <a:t>.</a:t>
            </a:r>
            <a:endParaRPr b="1" i="0" sz="1600" u="none" cap="none" strike="noStrike">
              <a:solidFill>
                <a:schemeClr val="lt1"/>
              </a:solidFill>
              <a:latin typeface="Corbel"/>
              <a:ea typeface="Corbel"/>
              <a:cs typeface="Corbel"/>
              <a:sym typeface="Corbel"/>
            </a:endParaRPr>
          </a:p>
        </p:txBody>
      </p:sp>
      <p:sp>
        <p:nvSpPr>
          <p:cNvPr id="290" name="Google Shape;290;p21"/>
          <p:cNvSpPr/>
          <p:nvPr/>
        </p:nvSpPr>
        <p:spPr>
          <a:xfrm>
            <a:off x="8541001" y="1929441"/>
            <a:ext cx="2699218" cy="4264324"/>
          </a:xfrm>
          <a:prstGeom prst="roundRect">
            <a:avLst>
              <a:gd fmla="val 16667" name="adj"/>
            </a:avLst>
          </a:prstGeom>
          <a:solidFill>
            <a:srgbClr val="00B050"/>
          </a:solidFill>
          <a:ln cap="rnd" cmpd="sng" w="15875">
            <a:solidFill>
              <a:srgbClr val="6583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orbel"/>
                <a:ea typeface="Corbel"/>
                <a:cs typeface="Corbel"/>
                <a:sym typeface="Corbel"/>
              </a:rPr>
              <a:t>3.Assertions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These commands are like </a:t>
            </a:r>
            <a:r>
              <a:rPr b="1" i="1" lang="en-US" sz="1800" u="none" cap="none" strike="noStrike">
                <a:solidFill>
                  <a:schemeClr val="lt1"/>
                </a:solidFill>
                <a:latin typeface="Corbel"/>
                <a:ea typeface="Corbel"/>
                <a:cs typeface="Corbel"/>
                <a:sym typeface="Corbel"/>
              </a:rPr>
              <a:t>accessors</a:t>
            </a:r>
            <a:r>
              <a:rPr b="0" i="0" lang="en-US" sz="1800" u="none" cap="none" strike="noStrike">
                <a:solidFill>
                  <a:schemeClr val="lt1"/>
                </a:solidFill>
                <a:latin typeface="Corbel"/>
                <a:ea typeface="Corbel"/>
                <a:cs typeface="Corbel"/>
                <a:sym typeface="Corbel"/>
              </a:rPr>
              <a:t>, but they verify that the state of the application conforms to what is expected.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Selenium Assertions can also be categorized into three categories.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orbel"/>
                <a:ea typeface="Corbel"/>
                <a:cs typeface="Corbel"/>
                <a:sym typeface="Corbel"/>
              </a:rPr>
              <a:t>Eg;-Assert, Verify, WaitFor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91" name="Google Shape;291;p21"/>
          <p:cNvSpPr/>
          <p:nvPr/>
        </p:nvSpPr>
        <p:spPr>
          <a:xfrm>
            <a:off x="5087987" y="1929440"/>
            <a:ext cx="2811360" cy="4264325"/>
          </a:xfrm>
          <a:prstGeom prst="roundRect">
            <a:avLst>
              <a:gd fmla="val 16667" name="adj"/>
            </a:avLst>
          </a:prstGeom>
          <a:solidFill>
            <a:schemeClr val="accent5"/>
          </a:solidFill>
          <a:ln cap="rnd"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orbel"/>
                <a:ea typeface="Corbel"/>
                <a:cs typeface="Corbel"/>
                <a:sym typeface="Corbel"/>
              </a:rPr>
              <a:t>2.Accessors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These commands examine the state of the application and store the result in variables.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Eg:-</a:t>
            </a:r>
            <a:r>
              <a:rPr b="1" i="0" lang="en-US" sz="1800" u="none" cap="none" strike="noStrike">
                <a:solidFill>
                  <a:schemeClr val="lt1"/>
                </a:solidFill>
                <a:latin typeface="Corbel"/>
                <a:ea typeface="Corbel"/>
                <a:cs typeface="Corbel"/>
                <a:sym typeface="Corbel"/>
              </a:rPr>
              <a:t>storeTitle</a:t>
            </a:r>
            <a:endParaRPr b="0"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They are also used to automatically generate Assertions.</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orbel"/>
              <a:ea typeface="Corbel"/>
              <a:cs typeface="Corbel"/>
              <a:sym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2"/>
          <p:cNvSpPr txBox="1"/>
          <p:nvPr>
            <p:ph type="title"/>
          </p:nvPr>
        </p:nvSpPr>
        <p:spPr>
          <a:xfrm>
            <a:off x="1553322" y="263105"/>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1.Selenium IDE(contd.) - Commonly used Selenium IDE commands</a:t>
            </a:r>
            <a:br>
              <a:rPr b="1" lang="en-US" sz="2400"/>
            </a:br>
            <a:br>
              <a:rPr b="1" lang="en-US" sz="2400"/>
            </a:br>
            <a:r>
              <a:rPr b="1" lang="en-US" sz="2400"/>
              <a:t>Additional Reading :- </a:t>
            </a:r>
            <a:r>
              <a:rPr b="1" lang="en-US" sz="2400" u="sng">
                <a:solidFill>
                  <a:schemeClr val="hlink"/>
                </a:solidFill>
                <a:hlinkClick r:id="rId3"/>
              </a:rPr>
              <a:t>https://ui.vision/rpa/docs/selenium-ide</a:t>
            </a:r>
            <a:endParaRPr b="1" sz="2400"/>
          </a:p>
        </p:txBody>
      </p:sp>
      <p:graphicFrame>
        <p:nvGraphicFramePr>
          <p:cNvPr id="297" name="Google Shape;297;p22"/>
          <p:cNvGraphicFramePr/>
          <p:nvPr/>
        </p:nvGraphicFramePr>
        <p:xfrm>
          <a:off x="1553323" y="2182483"/>
          <a:ext cx="3000000" cy="3000000"/>
        </p:xfrm>
        <a:graphic>
          <a:graphicData uri="http://schemas.openxmlformats.org/drawingml/2006/table">
            <a:tbl>
              <a:tblPr bandRow="1" firstRow="1">
                <a:noFill/>
                <a:tableStyleId>{6D03848A-D59A-488F-8432-9368CBC616B2}</a:tableStyleId>
              </a:tblPr>
              <a:tblGrid>
                <a:gridCol w="2734000"/>
                <a:gridCol w="7284700"/>
              </a:tblGrid>
              <a:tr h="3599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Command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Description</a:t>
                      </a:r>
                      <a:endParaRPr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1.type</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Sets the value of an input field, as though you typed it in</a:t>
                      </a:r>
                      <a:endParaRPr i="1"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2.open</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Opens a page using a URL.</a:t>
                      </a:r>
                      <a:endParaRPr i="1"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3.click</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Clicks on a link, button, checkbox or radio button.</a:t>
                      </a:r>
                      <a:endParaRPr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4.</a:t>
                      </a:r>
                      <a:r>
                        <a:rPr b="1" i="0" lang="en-US" sz="1800" u="none" cap="none" strike="noStrike">
                          <a:solidFill>
                            <a:schemeClr val="dk1"/>
                          </a:solidFill>
                          <a:latin typeface="Corbel"/>
                          <a:ea typeface="Corbel"/>
                          <a:cs typeface="Corbel"/>
                          <a:sym typeface="Corbel"/>
                        </a:rPr>
                        <a:t>assertTitle, VerifyTitle</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Verifies an expected page title</a:t>
                      </a:r>
                      <a:endParaRPr i="1" sz="1800" u="none" cap="none" strike="noStrike"/>
                    </a:p>
                  </a:txBody>
                  <a:tcPr marT="45725" marB="45725" marR="91450" marL="91450"/>
                </a:tc>
              </a:tr>
              <a:tr h="6299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5.</a:t>
                      </a:r>
                      <a:r>
                        <a:rPr b="1" i="0" lang="en-US" sz="1800" u="none" cap="none" strike="noStrike">
                          <a:solidFill>
                            <a:schemeClr val="dk1"/>
                          </a:solidFill>
                          <a:latin typeface="Corbel"/>
                          <a:ea typeface="Corbel"/>
                          <a:cs typeface="Corbel"/>
                          <a:sym typeface="Corbel"/>
                        </a:rPr>
                        <a:t> assertElementPresent, verifyElementPresent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Verify / Asserts the presence of an element on a web page.</a:t>
                      </a:r>
                      <a:endParaRPr i="1" sz="1800" u="none" cap="none" strike="noStrike"/>
                    </a:p>
                  </a:txBody>
                  <a:tcPr marT="45725" marB="45725" marR="91450" marL="91450"/>
                </a:tc>
              </a:tr>
              <a:tr h="6299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6.</a:t>
                      </a:r>
                      <a:r>
                        <a:rPr b="1" i="0" lang="en-US" sz="1800" u="none" cap="none" strike="noStrike">
                          <a:solidFill>
                            <a:schemeClr val="dk1"/>
                          </a:solidFill>
                          <a:latin typeface="Corbel"/>
                          <a:ea typeface="Corbel"/>
                          <a:cs typeface="Corbel"/>
                          <a:sym typeface="Corbel"/>
                        </a:rPr>
                        <a:t> assertTextPresent, verifyTextPresent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Verify / Asserts the presence of a text within the web page.</a:t>
                      </a:r>
                      <a:endParaRPr sz="1800" u="none" cap="none" strike="noStrike"/>
                    </a:p>
                  </a:txBody>
                  <a:tcPr marT="45725" marB="45725" marR="91450" marL="91450"/>
                </a:tc>
              </a:tr>
              <a:tr h="629900">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7.type, typeKeys,</a:t>
                      </a:r>
                      <a:br>
                        <a:rPr b="1" lang="en-US" sz="1800" u="none" cap="none" strike="noStrike"/>
                      </a:br>
                      <a:r>
                        <a:rPr b="1" i="0" lang="en-US" sz="1800" u="none" cap="none" strike="noStrike">
                          <a:solidFill>
                            <a:schemeClr val="dk1"/>
                          </a:solidFill>
                          <a:latin typeface="Corbel"/>
                          <a:ea typeface="Corbel"/>
                          <a:cs typeface="Corbel"/>
                          <a:sym typeface="Corbel"/>
                        </a:rPr>
                        <a:t>sendKeys</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Enters a value (String) in the specified web element.</a:t>
                      </a:r>
                      <a:endParaRPr i="1" sz="1800" u="none" cap="none" strike="noStrike"/>
                    </a:p>
                  </a:txBody>
                  <a:tcPr marT="45725" marB="45725" marR="91450" marL="91450"/>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graphicFrame>
        <p:nvGraphicFramePr>
          <p:cNvPr id="302" name="Google Shape;302;p23"/>
          <p:cNvGraphicFramePr/>
          <p:nvPr/>
        </p:nvGraphicFramePr>
        <p:xfrm>
          <a:off x="1656840" y="862641"/>
          <a:ext cx="3000000" cy="3000000"/>
        </p:xfrm>
        <a:graphic>
          <a:graphicData uri="http://schemas.openxmlformats.org/drawingml/2006/table">
            <a:tbl>
              <a:tblPr bandRow="1" firstRow="1">
                <a:noFill/>
                <a:tableStyleId>{6D03848A-D59A-488F-8432-9368CBC616B2}</a:tableStyleId>
              </a:tblPr>
              <a:tblGrid>
                <a:gridCol w="2734000"/>
                <a:gridCol w="7284700"/>
              </a:tblGrid>
              <a:tr h="3599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Command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Description</a:t>
                      </a:r>
                      <a:endParaRPr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8.</a:t>
                      </a:r>
                      <a:r>
                        <a:rPr b="1" i="0" lang="en-US" sz="1800" u="none" cap="none" strike="noStrike">
                          <a:solidFill>
                            <a:schemeClr val="dk1"/>
                          </a:solidFill>
                          <a:latin typeface="Corbel"/>
                          <a:ea typeface="Corbel"/>
                          <a:cs typeface="Corbel"/>
                          <a:sym typeface="Corbel"/>
                        </a:rPr>
                        <a:t> Click, clickAt,</a:t>
                      </a:r>
                      <a:br>
                        <a:rPr b="1" lang="en-US" sz="1800" u="none" cap="none" strike="noStrike"/>
                      </a:br>
                      <a:r>
                        <a:rPr b="1" i="0" lang="en-US" sz="1800" u="none" cap="none" strike="noStrike">
                          <a:solidFill>
                            <a:schemeClr val="dk1"/>
                          </a:solidFill>
                          <a:latin typeface="Corbel"/>
                          <a:ea typeface="Corbel"/>
                          <a:cs typeface="Corbel"/>
                          <a:sym typeface="Corbel"/>
                        </a:rPr>
                        <a:t>clickAndWait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Clicks on a specified web element within a web page.</a:t>
                      </a:r>
                      <a:endParaRPr i="1"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9.</a:t>
                      </a:r>
                      <a:r>
                        <a:rPr b="1" i="0" lang="en-US" sz="1800" u="none" cap="none" strike="noStrike">
                          <a:solidFill>
                            <a:schemeClr val="dk1"/>
                          </a:solidFill>
                          <a:latin typeface="Corbel"/>
                          <a:ea typeface="Corbel"/>
                          <a:cs typeface="Corbel"/>
                          <a:sym typeface="Corbel"/>
                        </a:rPr>
                        <a:t> waitForPageToLoad</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Sleeps the execution and waits until the page is loaded completely.</a:t>
                      </a:r>
                      <a:endParaRPr i="1"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10.</a:t>
                      </a:r>
                      <a:r>
                        <a:rPr b="1" i="0" lang="en-US" sz="1800" u="none" cap="none" strike="noStrike">
                          <a:solidFill>
                            <a:schemeClr val="dk1"/>
                          </a:solidFill>
                          <a:latin typeface="Corbel"/>
                          <a:ea typeface="Corbel"/>
                          <a:cs typeface="Corbel"/>
                          <a:sym typeface="Corbel"/>
                        </a:rPr>
                        <a:t> waitForElement</a:t>
                      </a:r>
                      <a:br>
                        <a:rPr b="1" lang="en-US" sz="1800" u="none" cap="none" strike="noStrike"/>
                      </a:br>
                      <a:r>
                        <a:rPr b="1" i="0" lang="en-US" sz="1800" u="none" cap="none" strike="noStrike">
                          <a:solidFill>
                            <a:schemeClr val="dk1"/>
                          </a:solidFill>
                          <a:latin typeface="Corbel"/>
                          <a:ea typeface="Corbel"/>
                          <a:cs typeface="Corbel"/>
                          <a:sym typeface="Corbel"/>
                        </a:rPr>
                        <a:t>Present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Sleeps the execution and waits until the specified element is present</a:t>
                      </a:r>
                      <a:endParaRPr i="1" sz="1800" u="none" cap="none" strike="noStrike"/>
                    </a:p>
                  </a:txBody>
                  <a:tcPr marT="45725" marB="45725" marR="91450" marL="91450"/>
                </a:tc>
              </a:tr>
              <a:tr h="3649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11.chooseOkOnNext</a:t>
                      </a:r>
                      <a:br>
                        <a:rPr b="1" lang="en-US" sz="1800" u="none" cap="none" strike="noStrike"/>
                      </a:br>
                      <a:r>
                        <a:rPr b="1" i="0" lang="en-US" sz="1800" u="none" cap="none" strike="noStrike">
                          <a:solidFill>
                            <a:schemeClr val="dk1"/>
                          </a:solidFill>
                          <a:latin typeface="Corbel"/>
                          <a:ea typeface="Corbel"/>
                          <a:cs typeface="Corbel"/>
                          <a:sym typeface="Corbel"/>
                        </a:rPr>
                        <a:t>Confirmation,</a:t>
                      </a:r>
                      <a:br>
                        <a:rPr b="1" lang="en-US" sz="1800" u="none" cap="none" strike="noStrike"/>
                      </a:br>
                      <a:r>
                        <a:rPr b="1" i="0" lang="en-US" sz="1800" u="none" cap="none" strike="noStrike">
                          <a:solidFill>
                            <a:schemeClr val="dk1"/>
                          </a:solidFill>
                          <a:latin typeface="Corbel"/>
                          <a:ea typeface="Corbel"/>
                          <a:cs typeface="Corbel"/>
                          <a:sym typeface="Corbel"/>
                        </a:rPr>
                        <a:t>chooseCancelOn</a:t>
                      </a:r>
                      <a:br>
                        <a:rPr b="1" lang="en-US" sz="1800" u="none" cap="none" strike="noStrike"/>
                      </a:br>
                      <a:r>
                        <a:rPr b="1" i="0" lang="en-US" sz="1800" u="none" cap="none" strike="noStrike">
                          <a:solidFill>
                            <a:schemeClr val="dk1"/>
                          </a:solidFill>
                          <a:latin typeface="Corbel"/>
                          <a:ea typeface="Corbel"/>
                          <a:cs typeface="Corbel"/>
                          <a:sym typeface="Corbel"/>
                        </a:rPr>
                        <a:t>NextConfirmation</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Click on ”OK” or “Cancel” button when next confirmation box appears.</a:t>
                      </a:r>
                      <a:endParaRPr i="1" sz="1800" u="none" cap="none" strike="noStrike"/>
                    </a:p>
                  </a:txBody>
                  <a:tcPr marT="45725" marB="45725" marR="91450" marL="91450"/>
                </a:tc>
              </a:tr>
              <a:tr h="6299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12.</a:t>
                      </a:r>
                      <a:r>
                        <a:rPr b="1" i="0" lang="en-US" sz="1800" u="none" cap="none" strike="noStrike">
                          <a:solidFill>
                            <a:schemeClr val="dk1"/>
                          </a:solidFill>
                          <a:latin typeface="Corbel"/>
                          <a:ea typeface="Corbel"/>
                          <a:cs typeface="Corbel"/>
                          <a:sym typeface="Corbel"/>
                        </a:rPr>
                        <a:t> highlight</a:t>
                      </a:r>
                      <a:endParaRPr b="1" i="0"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Briefly changes the background Color of the specified element yellow. Useful for debugging.</a:t>
                      </a:r>
                      <a:endParaRPr i="1" sz="1800" u="none" cap="none" strike="noStrike"/>
                    </a:p>
                  </a:txBody>
                  <a:tcPr marT="45725" marB="45725" marR="91450" marL="91450"/>
                </a:tc>
              </a:tr>
              <a:tr h="6299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13.</a:t>
                      </a:r>
                      <a:r>
                        <a:rPr b="1" i="0" lang="en-US" sz="1800" u="none" cap="none" strike="noStrike">
                          <a:solidFill>
                            <a:schemeClr val="dk1"/>
                          </a:solidFill>
                          <a:latin typeface="Corbel"/>
                          <a:ea typeface="Corbel"/>
                          <a:cs typeface="Corbel"/>
                          <a:sym typeface="Corbel"/>
                        </a:rPr>
                        <a:t> echo</a:t>
                      </a:r>
                      <a:endParaRPr b="1" i="0"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Prints the specified message into the third table cell in your Selenese tables. Useful for debugging.</a:t>
                      </a:r>
                      <a:endParaRPr sz="1800" u="none" cap="none" strike="noStrike"/>
                    </a:p>
                  </a:txBody>
                  <a:tcPr marT="45725" marB="45725" marR="91450" marL="91450"/>
                </a:tc>
              </a:tr>
              <a:tr h="629900">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14.pause</a:t>
                      </a:r>
                      <a:endParaRPr b="1" i="0"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rbel"/>
                          <a:ea typeface="Corbel"/>
                          <a:cs typeface="Corbel"/>
                          <a:sym typeface="Corbel"/>
                        </a:rPr>
                        <a:t>Wait for the specified amount of time (in milliseconds).</a:t>
                      </a:r>
                      <a:endParaRPr i="1" sz="1800" u="none" cap="none" strike="noStrike"/>
                    </a:p>
                  </a:txBody>
                  <a:tcPr marT="45725" marB="45725" marR="91450" marL="9145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type="title"/>
          </p:nvPr>
        </p:nvSpPr>
        <p:spPr>
          <a:xfrm>
            <a:off x="1484311" y="685800"/>
            <a:ext cx="10018713" cy="108047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1.Selenium IDE(contd.) - Locators</a:t>
            </a:r>
            <a:endParaRPr sz="2400"/>
          </a:p>
        </p:txBody>
      </p:sp>
      <p:sp>
        <p:nvSpPr>
          <p:cNvPr id="308" name="Google Shape;308;p24"/>
          <p:cNvSpPr txBox="1"/>
          <p:nvPr>
            <p:ph idx="1" type="body"/>
          </p:nvPr>
        </p:nvSpPr>
        <p:spPr>
          <a:xfrm>
            <a:off x="1578095" y="2260600"/>
            <a:ext cx="10018713" cy="3014786"/>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These are the command which are like GUI elements.</a:t>
            </a:r>
            <a:endParaRPr/>
          </a:p>
          <a:p>
            <a:pPr indent="-285750" lvl="0" marL="285750" rtl="0" algn="l">
              <a:lnSpc>
                <a:spcPct val="100000"/>
              </a:lnSpc>
              <a:spcBef>
                <a:spcPts val="1080"/>
              </a:spcBef>
              <a:spcAft>
                <a:spcPts val="0"/>
              </a:spcAft>
              <a:buSzPts val="3480"/>
              <a:buChar char="•"/>
            </a:pPr>
            <a:r>
              <a:rPr lang="en-US"/>
              <a:t>Identification of correct GUI elements is a prerequisite to creating an automation script.</a:t>
            </a:r>
            <a:endParaRPr/>
          </a:p>
          <a:p>
            <a:pPr indent="-285750" lvl="0" marL="285750" rtl="0" algn="l">
              <a:lnSpc>
                <a:spcPct val="100000"/>
              </a:lnSpc>
              <a:spcBef>
                <a:spcPts val="1080"/>
              </a:spcBef>
              <a:spcAft>
                <a:spcPts val="0"/>
              </a:spcAft>
              <a:buSzPts val="3480"/>
              <a:buChar char="•"/>
            </a:pPr>
            <a:r>
              <a:rPr lang="en-US"/>
              <a:t>But accurate identification of GUI elements is more difficult than it sounds.</a:t>
            </a:r>
            <a:endParaRPr/>
          </a:p>
          <a:p>
            <a:pPr indent="-285750" lvl="0" marL="285750" rtl="0" algn="l">
              <a:lnSpc>
                <a:spcPct val="100000"/>
              </a:lnSpc>
              <a:spcBef>
                <a:spcPts val="1080"/>
              </a:spcBef>
              <a:spcAft>
                <a:spcPts val="0"/>
              </a:spcAft>
              <a:buSzPts val="3480"/>
              <a:buChar char="•"/>
            </a:pPr>
            <a:r>
              <a:rPr lang="en-US"/>
              <a:t>Since Selenium provides locators to precisely locate a GUI element.</a:t>
            </a:r>
            <a:endParaRPr/>
          </a:p>
          <a:p>
            <a:pPr indent="0" lvl="0" marL="0" rtl="0" algn="l">
              <a:lnSpc>
                <a:spcPct val="100000"/>
              </a:lnSpc>
              <a:spcBef>
                <a:spcPts val="1080"/>
              </a:spcBef>
              <a:spcAft>
                <a:spcPts val="0"/>
              </a:spcAft>
              <a:buSzPts val="348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5"/>
          <p:cNvSpPr txBox="1"/>
          <p:nvPr>
            <p:ph type="title"/>
          </p:nvPr>
        </p:nvSpPr>
        <p:spPr>
          <a:xfrm>
            <a:off x="1484311" y="685801"/>
            <a:ext cx="10018713" cy="7678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1.Selenium IDE(contd.) - Locators</a:t>
            </a:r>
            <a:endParaRPr sz="2400"/>
          </a:p>
        </p:txBody>
      </p:sp>
      <p:graphicFrame>
        <p:nvGraphicFramePr>
          <p:cNvPr id="314" name="Google Shape;314;p25"/>
          <p:cNvGraphicFramePr/>
          <p:nvPr/>
        </p:nvGraphicFramePr>
        <p:xfrm>
          <a:off x="1690334" y="1378580"/>
          <a:ext cx="3000000" cy="3000000"/>
        </p:xfrm>
        <a:graphic>
          <a:graphicData uri="http://schemas.openxmlformats.org/drawingml/2006/table">
            <a:tbl>
              <a:tblPr bandRow="1" firstRow="1">
                <a:noFill/>
                <a:tableStyleId>{1A3847FB-9B13-4179-871C-DBFC86106797}</a:tableStyleId>
              </a:tblPr>
              <a:tblGrid>
                <a:gridCol w="2525600"/>
                <a:gridCol w="2727875"/>
                <a:gridCol w="4765250"/>
              </a:tblGrid>
              <a:tr h="2963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Locator</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Define</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 Description</a:t>
                      </a:r>
                      <a:endParaRPr sz="1800" u="none" cap="none" strike="noStrike"/>
                    </a:p>
                  </a:txBody>
                  <a:tcPr marT="45725" marB="45725" marR="91450" marL="91450"/>
                </a:tc>
              </a:tr>
              <a:tr h="1087900">
                <a:tc>
                  <a:txBody>
                    <a:bodyPr/>
                    <a:lstStyle/>
                    <a:p>
                      <a:pPr indent="0" lvl="0" marL="0" marR="0" rtl="0" algn="l">
                        <a:lnSpc>
                          <a:spcPct val="100000"/>
                        </a:lnSpc>
                        <a:spcBef>
                          <a:spcPts val="0"/>
                        </a:spcBef>
                        <a:spcAft>
                          <a:spcPts val="0"/>
                        </a:spcAft>
                        <a:buClr>
                          <a:schemeClr val="dk1"/>
                        </a:buClr>
                        <a:buSzPts val="1800"/>
                        <a:buFont typeface="Corbel"/>
                        <a:buNone/>
                      </a:pPr>
                      <a:r>
                        <a:rPr b="0" lang="en-US" sz="1800" u="none" cap="none" strike="noStrike"/>
                        <a:t>1.</a:t>
                      </a:r>
                      <a:r>
                        <a:rPr b="0" i="0" lang="en-US" sz="1800" u="none" cap="none" strike="noStrike">
                          <a:solidFill>
                            <a:schemeClr val="dk1"/>
                          </a:solidFill>
                          <a:latin typeface="Corbel"/>
                          <a:ea typeface="Corbel"/>
                          <a:cs typeface="Corbel"/>
                          <a:sym typeface="Corbel"/>
                        </a:rPr>
                        <a:t> Locating by ID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id=</a:t>
                      </a:r>
                      <a:r>
                        <a:rPr b="1" i="1" lang="en-US" sz="1800" u="none" cap="none" strike="noStrike">
                          <a:solidFill>
                            <a:schemeClr val="dk1"/>
                          </a:solidFill>
                          <a:latin typeface="Corbel"/>
                          <a:ea typeface="Corbel"/>
                          <a:cs typeface="Corbel"/>
                          <a:sym typeface="Corbel"/>
                        </a:rPr>
                        <a:t>id of the element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Way of locating elements since ID's </a:t>
                      </a:r>
                      <a:endParaRPr sz="1800" u="none" cap="none" strike="noStrike"/>
                    </a:p>
                  </a:txBody>
                  <a:tcPr marT="45725" marB="45725" marR="91450" marL="91450"/>
                </a:tc>
              </a:tr>
              <a:tr h="13442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a:t>
                      </a:r>
                      <a:r>
                        <a:rPr b="0" i="0" lang="en-US" sz="1800" u="none" cap="none" strike="noStrike">
                          <a:solidFill>
                            <a:schemeClr val="dk1"/>
                          </a:solidFill>
                          <a:latin typeface="Corbel"/>
                          <a:ea typeface="Corbel"/>
                          <a:cs typeface="Corbel"/>
                          <a:sym typeface="Corbel"/>
                        </a:rPr>
                        <a:t> Locating by name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name=</a:t>
                      </a:r>
                      <a:r>
                        <a:rPr b="1" i="1" lang="en-US" sz="1800" u="none" cap="none" strike="noStrike">
                          <a:solidFill>
                            <a:schemeClr val="dk1"/>
                          </a:solidFill>
                          <a:latin typeface="Corbel"/>
                          <a:ea typeface="Corbel"/>
                          <a:cs typeface="Corbel"/>
                          <a:sym typeface="Corbel"/>
                        </a:rPr>
                        <a:t>name of the element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Locating elements by name. </a:t>
                      </a:r>
                      <a:endParaRPr sz="1800" u="none" cap="none" strike="noStrike"/>
                    </a:p>
                  </a:txBody>
                  <a:tcPr marT="45725" marB="45725" marR="91450" marL="91450"/>
                </a:tc>
              </a:tr>
              <a:tr h="1081650">
                <a:tc>
                  <a:txBody>
                    <a:bodyPr/>
                    <a:lstStyle/>
                    <a:p>
                      <a:pPr indent="0" lvl="0" marL="0" marR="0" rtl="0" algn="l">
                        <a:lnSpc>
                          <a:spcPct val="100000"/>
                        </a:lnSpc>
                        <a:spcBef>
                          <a:spcPts val="0"/>
                        </a:spcBef>
                        <a:spcAft>
                          <a:spcPts val="0"/>
                        </a:spcAft>
                        <a:buClr>
                          <a:schemeClr val="dk1"/>
                        </a:buClr>
                        <a:buSzPts val="1800"/>
                        <a:buFont typeface="Corbel"/>
                        <a:buNone/>
                      </a:pPr>
                      <a:r>
                        <a:rPr b="0" i="0" lang="en-US" sz="1800" u="none" cap="none" strike="noStrike">
                          <a:solidFill>
                            <a:schemeClr val="dk1"/>
                          </a:solidFill>
                          <a:latin typeface="Corbel"/>
                          <a:ea typeface="Corbel"/>
                          <a:cs typeface="Corbel"/>
                          <a:sym typeface="Corbel"/>
                        </a:rPr>
                        <a:t>3.Locating by Link Text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chemeClr val="dk1"/>
                          </a:solidFill>
                          <a:latin typeface="Corbel"/>
                          <a:ea typeface="Corbel"/>
                          <a:cs typeface="Corbel"/>
                          <a:sym typeface="Corbel"/>
                        </a:rPr>
                        <a:t>link=link_text</a:t>
                      </a:r>
                      <a:endParaRPr b="1" i="1"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This type of locator applies only to hyperlink texts.</a:t>
                      </a:r>
                      <a:endParaRPr sz="1800" u="none" cap="none" strike="noStrike"/>
                    </a:p>
                  </a:txBody>
                  <a:tcPr marT="45725" marB="45725" marR="91450" marL="91450"/>
                </a:tc>
              </a:tr>
              <a:tr h="104105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4.Locating by CSS Selector</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css=</a:t>
                      </a:r>
                      <a:r>
                        <a:rPr b="1" i="1" lang="en-US" sz="1800" u="none" cap="none" strike="noStrike">
                          <a:solidFill>
                            <a:schemeClr val="dk1"/>
                          </a:solidFill>
                          <a:latin typeface="Corbel"/>
                          <a:ea typeface="Corbel"/>
                          <a:cs typeface="Corbel"/>
                          <a:sym typeface="Corbel"/>
                        </a:rPr>
                        <a:t>tag</a:t>
                      </a:r>
                      <a:r>
                        <a:rPr b="1" i="0" lang="en-US" sz="1800" u="none" cap="none" strike="noStrike">
                          <a:solidFill>
                            <a:schemeClr val="dk1"/>
                          </a:solidFill>
                          <a:latin typeface="Corbel"/>
                          <a:ea typeface="Corbel"/>
                          <a:cs typeface="Corbel"/>
                          <a:sym typeface="Corbel"/>
                        </a:rPr>
                        <a:t>#</a:t>
                      </a:r>
                      <a:r>
                        <a:rPr b="1" i="1" lang="en-US" sz="1800" u="none" cap="none" strike="noStrike">
                          <a:solidFill>
                            <a:schemeClr val="dk1"/>
                          </a:solidFill>
                          <a:latin typeface="Corbel"/>
                          <a:ea typeface="Corbel"/>
                          <a:cs typeface="Corbel"/>
                          <a:sym typeface="Corbel"/>
                        </a:rPr>
                        <a:t>id</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CSS Selectors are string patterns used to identify an element based on a combination of HTML tag, id, class, and attributes.</a:t>
                      </a:r>
                      <a:endParaRPr sz="1800" u="none" cap="none" strike="noStrike"/>
                    </a:p>
                  </a:txBody>
                  <a:tcPr marT="45725" marB="45725" marR="91450" marL="91450"/>
                </a:tc>
              </a:tr>
            </a:tbl>
          </a:graphicData>
        </a:graphic>
      </p:graphicFrame>
      <p:pic>
        <p:nvPicPr>
          <p:cNvPr id="315" name="Google Shape;315;p25"/>
          <p:cNvPicPr preferRelativeResize="0"/>
          <p:nvPr/>
        </p:nvPicPr>
        <p:blipFill rotWithShape="1">
          <a:blip r:embed="rId3">
            <a:alphaModFix/>
          </a:blip>
          <a:srcRect b="0" l="0" r="0" t="0"/>
          <a:stretch/>
        </p:blipFill>
        <p:spPr>
          <a:xfrm>
            <a:off x="4491351" y="2146442"/>
            <a:ext cx="2126112" cy="585423"/>
          </a:xfrm>
          <a:prstGeom prst="rect">
            <a:avLst/>
          </a:prstGeom>
          <a:noFill/>
          <a:ln>
            <a:noFill/>
          </a:ln>
        </p:spPr>
      </p:pic>
      <p:pic>
        <p:nvPicPr>
          <p:cNvPr id="316" name="Google Shape;316;p25"/>
          <p:cNvPicPr preferRelativeResize="0"/>
          <p:nvPr/>
        </p:nvPicPr>
        <p:blipFill rotWithShape="1">
          <a:blip r:embed="rId4">
            <a:alphaModFix/>
          </a:blip>
          <a:srcRect b="0" l="0" r="0" t="0"/>
          <a:stretch/>
        </p:blipFill>
        <p:spPr>
          <a:xfrm>
            <a:off x="4409125" y="3486754"/>
            <a:ext cx="2290565" cy="577609"/>
          </a:xfrm>
          <a:prstGeom prst="rect">
            <a:avLst/>
          </a:prstGeom>
          <a:noFill/>
          <a:ln>
            <a:noFill/>
          </a:ln>
        </p:spPr>
      </p:pic>
      <p:pic>
        <p:nvPicPr>
          <p:cNvPr id="317" name="Google Shape;317;p25"/>
          <p:cNvPicPr preferRelativeResize="0"/>
          <p:nvPr/>
        </p:nvPicPr>
        <p:blipFill rotWithShape="1">
          <a:blip r:embed="rId5">
            <a:alphaModFix/>
          </a:blip>
          <a:srcRect b="0" l="0" r="0" t="0"/>
          <a:stretch/>
        </p:blipFill>
        <p:spPr>
          <a:xfrm>
            <a:off x="4409125" y="4566836"/>
            <a:ext cx="2290565" cy="6303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6"/>
          <p:cNvSpPr txBox="1"/>
          <p:nvPr>
            <p:ph type="title"/>
          </p:nvPr>
        </p:nvSpPr>
        <p:spPr>
          <a:xfrm>
            <a:off x="1484311" y="685800"/>
            <a:ext cx="10018713" cy="82382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4.Components of selenium (Cotd.)</a:t>
            </a:r>
            <a:endParaRPr/>
          </a:p>
        </p:txBody>
      </p:sp>
      <p:sp>
        <p:nvSpPr>
          <p:cNvPr id="323" name="Google Shape;323;p26"/>
          <p:cNvSpPr txBox="1"/>
          <p:nvPr>
            <p:ph idx="1" type="body"/>
          </p:nvPr>
        </p:nvSpPr>
        <p:spPr>
          <a:xfrm>
            <a:off x="1484310" y="1509623"/>
            <a:ext cx="10018713" cy="4710022"/>
          </a:xfrm>
          <a:prstGeom prst="rect">
            <a:avLst/>
          </a:prstGeom>
          <a:noFill/>
          <a:ln>
            <a:noFill/>
          </a:ln>
        </p:spPr>
        <p:txBody>
          <a:bodyPr anchorCtr="0" anchor="ctr" bIns="45700" lIns="91425" spcFirstLastPara="1" rIns="91425" wrap="square" tIns="45700">
            <a:normAutofit fontScale="55000" lnSpcReduction="20000"/>
          </a:bodyPr>
          <a:lstStyle/>
          <a:p>
            <a:pPr indent="0" lvl="0" marL="0" rtl="0" algn="l">
              <a:lnSpc>
                <a:spcPct val="90000"/>
              </a:lnSpc>
              <a:spcBef>
                <a:spcPts val="0"/>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rPr b="1" lang="en-US" sz="2220"/>
              <a:t>2.Selenium RC</a:t>
            </a:r>
            <a:endParaRPr/>
          </a:p>
          <a:p>
            <a:pPr indent="-193767" lvl="0" marL="285750" rtl="0" algn="l">
              <a:lnSpc>
                <a:spcPct val="90000"/>
              </a:lnSpc>
              <a:spcBef>
                <a:spcPts val="1044"/>
              </a:spcBef>
              <a:spcAft>
                <a:spcPts val="0"/>
              </a:spcAft>
              <a:buSzPct val="145000"/>
              <a:buChar char="•"/>
            </a:pPr>
            <a:r>
              <a:rPr b="1" lang="en-US" sz="2220"/>
              <a:t>Flagship Testing Framework </a:t>
            </a:r>
            <a:r>
              <a:rPr lang="en-US" sz="2220"/>
              <a:t>of the whole Selenium project for a long time.</a:t>
            </a:r>
            <a:endParaRPr/>
          </a:p>
          <a:p>
            <a:pPr indent="-193767" lvl="0" marL="285750" rtl="0" algn="l">
              <a:lnSpc>
                <a:spcPct val="90000"/>
              </a:lnSpc>
              <a:spcBef>
                <a:spcPts val="1044"/>
              </a:spcBef>
              <a:spcAft>
                <a:spcPts val="0"/>
              </a:spcAft>
              <a:buSzPct val="145000"/>
              <a:buChar char="•"/>
            </a:pPr>
            <a:r>
              <a:rPr b="1" lang="en-US" sz="2220"/>
              <a:t>Allow users to use a programming language they prefer.</a:t>
            </a:r>
            <a:endParaRPr/>
          </a:p>
          <a:p>
            <a:pPr indent="-193767" lvl="0" marL="285750" rtl="0" algn="l">
              <a:lnSpc>
                <a:spcPct val="90000"/>
              </a:lnSpc>
              <a:spcBef>
                <a:spcPts val="1044"/>
              </a:spcBef>
              <a:spcAft>
                <a:spcPts val="0"/>
              </a:spcAft>
              <a:buSzPct val="145000"/>
              <a:buChar char="•"/>
            </a:pPr>
            <a:r>
              <a:rPr b="1" lang="en-US" sz="2220"/>
              <a:t>RC </a:t>
            </a:r>
            <a:r>
              <a:rPr lang="en-US" sz="2220"/>
              <a:t>version 2.25.0 support for C#,PHP,and Java.</a:t>
            </a:r>
            <a:endParaRPr/>
          </a:p>
          <a:p>
            <a:pPr indent="-193767" lvl="0" marL="285750" rtl="0" algn="l">
              <a:lnSpc>
                <a:spcPct val="90000"/>
              </a:lnSpc>
              <a:spcBef>
                <a:spcPts val="1044"/>
              </a:spcBef>
              <a:spcAft>
                <a:spcPts val="0"/>
              </a:spcAft>
              <a:buSzPct val="145000"/>
              <a:buChar char="•"/>
            </a:pPr>
            <a:r>
              <a:rPr lang="en-US" sz="2220"/>
              <a:t>Make request using </a:t>
            </a:r>
            <a:r>
              <a:rPr b="1" lang="en-US" sz="2220"/>
              <a:t>GET/POST method </a:t>
            </a:r>
            <a:r>
              <a:rPr lang="en-US" sz="2220"/>
              <a:t>and capable of setting </a:t>
            </a:r>
            <a:r>
              <a:rPr b="1" lang="en-US" sz="2220"/>
              <a:t>HTTP requests.</a:t>
            </a:r>
            <a:endParaRPr/>
          </a:p>
          <a:p>
            <a:pPr indent="-193767" lvl="0" marL="285750" rtl="0" algn="l">
              <a:lnSpc>
                <a:spcPct val="90000"/>
              </a:lnSpc>
              <a:spcBef>
                <a:spcPts val="1044"/>
              </a:spcBef>
              <a:spcAft>
                <a:spcPts val="0"/>
              </a:spcAft>
              <a:buSzPct val="145000"/>
              <a:buChar char="•"/>
            </a:pPr>
            <a:r>
              <a:rPr lang="en-US" sz="2220"/>
              <a:t>Automate web application</a:t>
            </a:r>
            <a:r>
              <a:rPr b="1" lang="en-US" sz="2220"/>
              <a:t>.</a:t>
            </a:r>
            <a:endParaRPr/>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b="1" sz="2220"/>
          </a:p>
          <a:p>
            <a:pPr indent="0" lvl="0" marL="0" rtl="0" algn="l">
              <a:lnSpc>
                <a:spcPct val="90000"/>
              </a:lnSpc>
              <a:spcBef>
                <a:spcPts val="1044"/>
              </a:spcBef>
              <a:spcAft>
                <a:spcPts val="0"/>
              </a:spcAft>
              <a:buSzPct val="145000"/>
              <a:buNone/>
            </a:pPr>
            <a:r>
              <a:t/>
            </a:r>
            <a:endParaRPr sz="2220"/>
          </a:p>
        </p:txBody>
      </p:sp>
      <p:pic>
        <p:nvPicPr>
          <p:cNvPr id="324" name="Google Shape;324;p26"/>
          <p:cNvPicPr preferRelativeResize="0"/>
          <p:nvPr/>
        </p:nvPicPr>
        <p:blipFill rotWithShape="1">
          <a:blip r:embed="rId3">
            <a:alphaModFix/>
          </a:blip>
          <a:srcRect b="0" l="0" r="0" t="0"/>
          <a:stretch/>
        </p:blipFill>
        <p:spPr>
          <a:xfrm>
            <a:off x="6493666" y="4506669"/>
            <a:ext cx="4059447" cy="213567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7"/>
          <p:cNvSpPr/>
          <p:nvPr/>
        </p:nvSpPr>
        <p:spPr>
          <a:xfrm>
            <a:off x="1621765" y="1477992"/>
            <a:ext cx="4433977" cy="4327586"/>
          </a:xfrm>
          <a:prstGeom prst="roundRect">
            <a:avLst>
              <a:gd fmla="val 16667" name="adj"/>
            </a:avLst>
          </a:prstGeom>
          <a:solidFill>
            <a:srgbClr val="979D9F"/>
          </a:solidFill>
          <a:ln cap="rnd"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orbel"/>
                <a:ea typeface="Corbel"/>
                <a:cs typeface="Corbel"/>
                <a:sym typeface="Corbel"/>
              </a:rPr>
              <a:t>Pros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Cross browser and platform</a:t>
            </a:r>
            <a:r>
              <a:rPr b="0" i="0" lang="en-US" sz="1800" u="none" cap="none" strike="noStrike">
                <a:solidFill>
                  <a:schemeClr val="lt1"/>
                </a:solidFill>
                <a:latin typeface="Corbel"/>
                <a:ea typeface="Corbel"/>
                <a:cs typeface="Corbel"/>
                <a:sym typeface="Corbel"/>
              </a:rPr>
              <a:t>.</a:t>
            </a:r>
            <a:endParaRPr b="0"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Can perform looping and  conditional operations.</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Support for data-driven testing.</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Has matured and complete API.</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Support for new browsers.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Faster execution when comparing with IDE.</a:t>
            </a:r>
            <a:endParaRPr b="1" i="0" sz="1800" u="none" cap="none" strike="noStrike">
              <a:solidFill>
                <a:schemeClr val="lt1"/>
              </a:solidFill>
              <a:latin typeface="Corbel"/>
              <a:ea typeface="Corbel"/>
              <a:cs typeface="Corbel"/>
              <a:sym typeface="Corbel"/>
            </a:endParaRPr>
          </a:p>
          <a:p>
            <a:pPr indent="-171450" lvl="0" marL="28575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30" name="Google Shape;330;p27"/>
          <p:cNvSpPr/>
          <p:nvPr/>
        </p:nvSpPr>
        <p:spPr>
          <a:xfrm>
            <a:off x="6786681" y="1477992"/>
            <a:ext cx="4356340" cy="4364968"/>
          </a:xfrm>
          <a:prstGeom prst="roundRect">
            <a:avLst>
              <a:gd fmla="val 16667" name="adj"/>
            </a:avLst>
          </a:prstGeom>
          <a:solidFill>
            <a:srgbClr val="00B050"/>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orbel"/>
                <a:ea typeface="Corbel"/>
                <a:cs typeface="Corbel"/>
                <a:sym typeface="Corbel"/>
              </a:rPr>
              <a:t>Cons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Installation is not easy when comparing with IDE.</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User need technical knowledge regarding programming language.</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Need Selenium RC server to execute.</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API commands are more confusing.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Less realistic browser interaction. </a:t>
            </a:r>
            <a:endParaRPr b="1" i="0" sz="1800" u="none" cap="none" strike="noStrike">
              <a:solidFill>
                <a:schemeClr val="lt1"/>
              </a:solidFill>
              <a:latin typeface="Corbel"/>
              <a:ea typeface="Corbel"/>
              <a:cs typeface="Corbel"/>
              <a:sym typeface="Corbel"/>
            </a:endParaRPr>
          </a:p>
          <a:p>
            <a:pPr indent="-171450" lvl="0" marL="28575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p:txBody>
      </p:sp>
      <p:sp>
        <p:nvSpPr>
          <p:cNvPr id="331" name="Google Shape;331;p27"/>
          <p:cNvSpPr/>
          <p:nvPr/>
        </p:nvSpPr>
        <p:spPr>
          <a:xfrm>
            <a:off x="1903318" y="527013"/>
            <a:ext cx="66972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2.Selenium RC(contd.) – Pros &amp; Cons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8"/>
          <p:cNvSpPr txBox="1"/>
          <p:nvPr>
            <p:ph type="title"/>
          </p:nvPr>
        </p:nvSpPr>
        <p:spPr>
          <a:xfrm>
            <a:off x="1484311" y="685800"/>
            <a:ext cx="10018713" cy="116887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2.Selenium RC(contd.) – Main components</a:t>
            </a:r>
            <a:br>
              <a:rPr b="1" lang="en-US" sz="2400"/>
            </a:br>
            <a:endParaRPr sz="2400"/>
          </a:p>
        </p:txBody>
      </p:sp>
      <p:sp>
        <p:nvSpPr>
          <p:cNvPr id="337" name="Google Shape;337;p28"/>
          <p:cNvSpPr/>
          <p:nvPr/>
        </p:nvSpPr>
        <p:spPr>
          <a:xfrm>
            <a:off x="3679165" y="1854679"/>
            <a:ext cx="4964503" cy="4546121"/>
          </a:xfrm>
          <a:prstGeom prst="flowChartOr">
            <a:avLst/>
          </a:prstGeom>
          <a:solidFill>
            <a:schemeClr val="lt1"/>
          </a:solidFill>
          <a:ln cap="rnd" cmpd="sng" w="158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38" name="Google Shape;338;p28"/>
          <p:cNvSpPr txBox="1"/>
          <p:nvPr/>
        </p:nvSpPr>
        <p:spPr>
          <a:xfrm>
            <a:off x="4399472" y="2818114"/>
            <a:ext cx="173390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RC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Server</a:t>
            </a:r>
            <a:endParaRPr b="1" i="0" sz="2400" u="none" cap="none" strike="noStrike">
              <a:solidFill>
                <a:schemeClr val="dk1"/>
              </a:solidFill>
              <a:latin typeface="Corbel"/>
              <a:ea typeface="Corbel"/>
              <a:cs typeface="Corbel"/>
              <a:sym typeface="Corbel"/>
            </a:endParaRPr>
          </a:p>
        </p:txBody>
      </p:sp>
      <p:sp>
        <p:nvSpPr>
          <p:cNvPr id="339" name="Google Shape;339;p28"/>
          <p:cNvSpPr txBox="1"/>
          <p:nvPr/>
        </p:nvSpPr>
        <p:spPr>
          <a:xfrm>
            <a:off x="6428837" y="2818113"/>
            <a:ext cx="199270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Client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Library</a:t>
            </a:r>
            <a:endParaRPr b="1" i="0" sz="2400" u="none" cap="none" strike="noStrike">
              <a:solidFill>
                <a:schemeClr val="dk1"/>
              </a:solidFill>
              <a:latin typeface="Corbel"/>
              <a:ea typeface="Corbel"/>
              <a:cs typeface="Corbel"/>
              <a:sym typeface="Corbel"/>
            </a:endParaRPr>
          </a:p>
        </p:txBody>
      </p:sp>
      <p:sp>
        <p:nvSpPr>
          <p:cNvPr id="340" name="Google Shape;340;p28"/>
          <p:cNvSpPr txBox="1"/>
          <p:nvPr/>
        </p:nvSpPr>
        <p:spPr>
          <a:xfrm>
            <a:off x="4069511" y="4586374"/>
            <a:ext cx="2238556"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Selenium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Core</a:t>
            </a:r>
            <a:endParaRPr b="1" i="0" sz="2400" u="none" cap="none" strike="noStrike">
              <a:solidFill>
                <a:schemeClr val="dk1"/>
              </a:solidFill>
              <a:latin typeface="Corbel"/>
              <a:ea typeface="Corbel"/>
              <a:cs typeface="Corbel"/>
              <a:sym typeface="Corbel"/>
            </a:endParaRPr>
          </a:p>
        </p:txBody>
      </p:sp>
      <p:sp>
        <p:nvSpPr>
          <p:cNvPr id="341" name="Google Shape;341;p28"/>
          <p:cNvSpPr txBox="1"/>
          <p:nvPr/>
        </p:nvSpPr>
        <p:spPr>
          <a:xfrm>
            <a:off x="6428837" y="4574868"/>
            <a:ext cx="199270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Application Under Test</a:t>
            </a:r>
            <a:endParaRPr b="1" i="0" sz="2400" u="none" cap="none" strike="noStrike">
              <a:solidFill>
                <a:schemeClr val="dk1"/>
              </a:solidFill>
              <a:latin typeface="Corbel"/>
              <a:ea typeface="Corbel"/>
              <a:cs typeface="Corbel"/>
              <a:sym typeface="Corbe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9"/>
          <p:cNvSpPr txBox="1"/>
          <p:nvPr>
            <p:ph type="title"/>
          </p:nvPr>
        </p:nvSpPr>
        <p:spPr>
          <a:xfrm>
            <a:off x="1484311" y="685800"/>
            <a:ext cx="10018713" cy="78069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2.Selenium RC(contd.) – Overview of Selenium RC</a:t>
            </a:r>
            <a:endParaRPr sz="2400"/>
          </a:p>
        </p:txBody>
      </p:sp>
      <p:pic>
        <p:nvPicPr>
          <p:cNvPr id="347" name="Google Shape;347;p29"/>
          <p:cNvPicPr preferRelativeResize="0"/>
          <p:nvPr>
            <p:ph idx="1" type="body"/>
          </p:nvPr>
        </p:nvPicPr>
        <p:blipFill rotWithShape="1">
          <a:blip r:embed="rId3">
            <a:alphaModFix/>
          </a:blip>
          <a:srcRect b="0" l="0" r="0" t="0"/>
          <a:stretch/>
        </p:blipFill>
        <p:spPr>
          <a:xfrm>
            <a:off x="2751826" y="1554190"/>
            <a:ext cx="5857336" cy="464820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0"/>
          <p:cNvSpPr txBox="1"/>
          <p:nvPr>
            <p:ph type="title"/>
          </p:nvPr>
        </p:nvSpPr>
        <p:spPr>
          <a:xfrm>
            <a:off x="1484311" y="685801"/>
            <a:ext cx="10018713" cy="97047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2.Selenium RC(contd.) – Installation  </a:t>
            </a:r>
            <a:endParaRPr sz="2400"/>
          </a:p>
        </p:txBody>
      </p:sp>
      <p:sp>
        <p:nvSpPr>
          <p:cNvPr id="353" name="Google Shape;353;p30"/>
          <p:cNvSpPr txBox="1"/>
          <p:nvPr>
            <p:ph idx="1" type="body"/>
          </p:nvPr>
        </p:nvSpPr>
        <p:spPr>
          <a:xfrm>
            <a:off x="1484310" y="1554193"/>
            <a:ext cx="10018713" cy="2155166"/>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i="1" lang="en-US" u="sng">
                <a:solidFill>
                  <a:schemeClr val="hlink"/>
                </a:solidFill>
                <a:hlinkClick r:id="rId3"/>
              </a:rPr>
              <a:t>https://www.protechtraining.com/content/selenium_tutorial-selenium_remote_control</a:t>
            </a:r>
            <a:endParaRPr i="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1"/>
          <p:cNvSpPr txBox="1"/>
          <p:nvPr>
            <p:ph type="title"/>
          </p:nvPr>
        </p:nvSpPr>
        <p:spPr>
          <a:xfrm>
            <a:off x="1484274" y="352425"/>
            <a:ext cx="10018800" cy="1752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4.Components of selenium (Cotd.)</a:t>
            </a:r>
            <a:endParaRPr/>
          </a:p>
        </p:txBody>
      </p:sp>
      <p:sp>
        <p:nvSpPr>
          <p:cNvPr id="359" name="Google Shape;359;p31"/>
          <p:cNvSpPr txBox="1"/>
          <p:nvPr>
            <p:ph idx="1" type="body"/>
          </p:nvPr>
        </p:nvSpPr>
        <p:spPr>
          <a:xfrm>
            <a:off x="1484311" y="2951671"/>
            <a:ext cx="10018713" cy="3124201"/>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3219"/>
              <a:buNone/>
            </a:pPr>
            <a:r>
              <a:rPr b="1" lang="en-US" sz="2220"/>
              <a:t>3.Selenium WebDriver</a:t>
            </a:r>
            <a:endParaRPr/>
          </a:p>
          <a:p>
            <a:pPr indent="-285750" lvl="0" marL="285750" rtl="0" algn="l">
              <a:lnSpc>
                <a:spcPct val="80000"/>
              </a:lnSpc>
              <a:spcBef>
                <a:spcPts val="1044"/>
              </a:spcBef>
              <a:spcAft>
                <a:spcPts val="0"/>
              </a:spcAft>
              <a:buSzPts val="3219"/>
              <a:buChar char="•"/>
            </a:pPr>
            <a:r>
              <a:rPr lang="en-US" sz="2220"/>
              <a:t>Better than both </a:t>
            </a:r>
            <a:r>
              <a:rPr b="1" lang="en-US" sz="2220"/>
              <a:t>Selenium IDE and Selenium RC.</a:t>
            </a:r>
            <a:endParaRPr/>
          </a:p>
          <a:p>
            <a:pPr indent="-285750" lvl="0" marL="285750" rtl="0" algn="l">
              <a:lnSpc>
                <a:spcPct val="80000"/>
              </a:lnSpc>
              <a:spcBef>
                <a:spcPts val="1044"/>
              </a:spcBef>
              <a:spcAft>
                <a:spcPts val="0"/>
              </a:spcAft>
              <a:buSzPts val="3219"/>
              <a:buChar char="•"/>
            </a:pPr>
            <a:r>
              <a:rPr lang="en-US" sz="2220"/>
              <a:t>Does not rely on JavaScript for Automation.</a:t>
            </a:r>
            <a:endParaRPr/>
          </a:p>
          <a:p>
            <a:pPr indent="-285750" lvl="0" marL="285750" rtl="0" algn="l">
              <a:lnSpc>
                <a:spcPct val="80000"/>
              </a:lnSpc>
              <a:spcBef>
                <a:spcPts val="1044"/>
              </a:spcBef>
              <a:spcAft>
                <a:spcPts val="0"/>
              </a:spcAft>
              <a:buSzPts val="3219"/>
              <a:buChar char="•"/>
            </a:pPr>
            <a:r>
              <a:rPr lang="en-US" sz="2220"/>
              <a:t>It controls the browser by directly communicating with it</a:t>
            </a:r>
            <a:r>
              <a:rPr b="1" lang="en-US" sz="2220"/>
              <a:t>.</a:t>
            </a:r>
            <a:endParaRPr/>
          </a:p>
          <a:p>
            <a:pPr indent="-285750" lvl="0" marL="285750" rtl="0" algn="l">
              <a:lnSpc>
                <a:spcPct val="80000"/>
              </a:lnSpc>
              <a:spcBef>
                <a:spcPts val="1044"/>
              </a:spcBef>
              <a:spcAft>
                <a:spcPts val="0"/>
              </a:spcAft>
              <a:buSzPts val="3219"/>
              <a:buChar char="•"/>
            </a:pPr>
            <a:r>
              <a:rPr lang="en-US" sz="2220"/>
              <a:t>Support language ;- Java, C#, PHP, Python, Perl, Ruby.</a:t>
            </a:r>
            <a:endParaRPr/>
          </a:p>
          <a:p>
            <a:pPr indent="-285750" lvl="0" marL="285750" rtl="0" algn="l">
              <a:lnSpc>
                <a:spcPct val="80000"/>
              </a:lnSpc>
              <a:spcBef>
                <a:spcPts val="1044"/>
              </a:spcBef>
              <a:spcAft>
                <a:spcPts val="0"/>
              </a:spcAft>
              <a:buSzPts val="3219"/>
              <a:buChar char="•"/>
            </a:pPr>
            <a:r>
              <a:rPr lang="en-US" sz="2220"/>
              <a:t>It mainly supports browsers like Firefox, Chrome, Safari and Internet Explorer.</a:t>
            </a:r>
            <a:endParaRPr/>
          </a:p>
          <a:p>
            <a:pPr indent="-285750" lvl="0" marL="285750" rtl="0" algn="l">
              <a:lnSpc>
                <a:spcPct val="80000"/>
              </a:lnSpc>
              <a:spcBef>
                <a:spcPts val="1044"/>
              </a:spcBef>
              <a:spcAft>
                <a:spcPts val="0"/>
              </a:spcAft>
              <a:buSzPts val="3219"/>
              <a:buChar char="•"/>
            </a:pPr>
            <a:r>
              <a:rPr lang="en-US" sz="2220"/>
              <a:t>You can now use </a:t>
            </a:r>
            <a:r>
              <a:rPr b="1" lang="en-US" sz="2220"/>
              <a:t>conditional operations</a:t>
            </a:r>
            <a:r>
              <a:rPr lang="en-US" sz="2220"/>
              <a:t> like </a:t>
            </a:r>
            <a:r>
              <a:rPr b="1" i="1" lang="en-US" sz="2220"/>
              <a:t>if-then-else or switch-case</a:t>
            </a:r>
            <a:r>
              <a:rPr lang="en-US" sz="2220"/>
              <a:t>. You can also perform looping like </a:t>
            </a:r>
            <a:r>
              <a:rPr b="1" i="1" lang="en-US" sz="2220"/>
              <a:t>do-while</a:t>
            </a:r>
            <a:r>
              <a:rPr lang="en-US" sz="2220"/>
              <a:t>.</a:t>
            </a:r>
            <a:endParaRPr sz="2220"/>
          </a:p>
        </p:txBody>
      </p:sp>
      <p:pic>
        <p:nvPicPr>
          <p:cNvPr id="360" name="Google Shape;360;p31"/>
          <p:cNvPicPr preferRelativeResize="0"/>
          <p:nvPr/>
        </p:nvPicPr>
        <p:blipFill rotWithShape="1">
          <a:blip r:embed="rId3">
            <a:alphaModFix/>
          </a:blip>
          <a:srcRect b="0" l="0" r="0" t="0"/>
          <a:stretch/>
        </p:blipFill>
        <p:spPr>
          <a:xfrm>
            <a:off x="4658264" y="1666342"/>
            <a:ext cx="1468998" cy="1285336"/>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2"/>
          <p:cNvSpPr/>
          <p:nvPr/>
        </p:nvSpPr>
        <p:spPr>
          <a:xfrm>
            <a:off x="1871931" y="1555630"/>
            <a:ext cx="4433977" cy="4327586"/>
          </a:xfrm>
          <a:prstGeom prst="roundRect">
            <a:avLst>
              <a:gd fmla="val 16667" name="adj"/>
            </a:avLst>
          </a:prstGeom>
          <a:solidFill>
            <a:srgbClr val="979D9F"/>
          </a:solidFill>
          <a:ln cap="rnd"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orbel"/>
                <a:ea typeface="Corbel"/>
                <a:cs typeface="Corbel"/>
                <a:sym typeface="Corbel"/>
              </a:rPr>
              <a:t>Pros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Easy to install comparing with RC.</a:t>
            </a:r>
            <a:endParaRPr b="0"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Directly connect with browser.</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Support for data-driven testing.</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Browser interaction is more realistic.</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Execution time is fast than RC and IDE.</a:t>
            </a:r>
            <a:endParaRPr b="1" i="0" sz="1800" u="none" cap="none" strike="noStrike">
              <a:solidFill>
                <a:schemeClr val="lt1"/>
              </a:solidFill>
              <a:latin typeface="Corbel"/>
              <a:ea typeface="Corbel"/>
              <a:cs typeface="Corbel"/>
              <a:sym typeface="Corbel"/>
            </a:endParaRPr>
          </a:p>
          <a:p>
            <a:pPr indent="-171450" lvl="0" marL="285750" marR="0" rtl="0" algn="ctr">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366" name="Google Shape;366;p32"/>
          <p:cNvSpPr/>
          <p:nvPr/>
        </p:nvSpPr>
        <p:spPr>
          <a:xfrm>
            <a:off x="6812560" y="1555630"/>
            <a:ext cx="4356340" cy="4364968"/>
          </a:xfrm>
          <a:prstGeom prst="roundRect">
            <a:avLst>
              <a:gd fmla="val 16667" name="adj"/>
            </a:avLst>
          </a:prstGeom>
          <a:solidFill>
            <a:srgbClr val="00B050"/>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1" lang="en-US" sz="3600" u="none" cap="none" strike="noStrike">
                <a:solidFill>
                  <a:schemeClr val="lt1"/>
                </a:solidFill>
                <a:latin typeface="Corbel"/>
                <a:ea typeface="Corbel"/>
                <a:cs typeface="Corbel"/>
                <a:sym typeface="Corbel"/>
              </a:rPr>
              <a:t>Cons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But installation is complicated when comparing with selenium IDE.</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Need programming language.</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Not support readily for new browsers.</a:t>
            </a:r>
            <a:endParaRPr b="1" i="0" sz="1800" u="none" cap="none" strike="noStrike">
              <a:solidFill>
                <a:schemeClr val="lt1"/>
              </a:solidFill>
              <a:latin typeface="Corbel"/>
              <a:ea typeface="Corbel"/>
              <a:cs typeface="Corbel"/>
              <a:sym typeface="Corbe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API commands are more confusing.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There was no any built-in mechanism to generate result. </a:t>
            </a:r>
            <a:endParaRPr b="1" i="0" sz="1800" u="none" cap="none" strike="noStrike">
              <a:solidFill>
                <a:schemeClr val="lt1"/>
              </a:solidFill>
              <a:latin typeface="Corbel"/>
              <a:ea typeface="Corbel"/>
              <a:cs typeface="Corbel"/>
              <a:sym typeface="Corbel"/>
            </a:endParaRPr>
          </a:p>
          <a:p>
            <a:pPr indent="-171450" lvl="0" marL="28575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rbel"/>
              <a:ea typeface="Corbel"/>
              <a:cs typeface="Corbel"/>
              <a:sym typeface="Corbel"/>
            </a:endParaRPr>
          </a:p>
        </p:txBody>
      </p:sp>
      <p:sp>
        <p:nvSpPr>
          <p:cNvPr id="367" name="Google Shape;367;p32"/>
          <p:cNvSpPr/>
          <p:nvPr/>
        </p:nvSpPr>
        <p:spPr>
          <a:xfrm>
            <a:off x="2173100" y="492507"/>
            <a:ext cx="814409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orbel"/>
                <a:ea typeface="Corbel"/>
                <a:cs typeface="Corbel"/>
                <a:sym typeface="Corbel"/>
              </a:rPr>
              <a:t>3.Selenium WebDriver(contd.) – Pros &amp; Cons</a:t>
            </a:r>
            <a:endParaRPr b="1" i="0" sz="2400" u="none" cap="none" strike="noStrike">
              <a:solidFill>
                <a:schemeClr val="dk1"/>
              </a:solidFill>
              <a:latin typeface="Corbel"/>
              <a:ea typeface="Corbel"/>
              <a:cs typeface="Corbel"/>
              <a:sym typeface="Corbe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3"/>
          <p:cNvSpPr txBox="1"/>
          <p:nvPr>
            <p:ph type="title"/>
          </p:nvPr>
        </p:nvSpPr>
        <p:spPr>
          <a:xfrm>
            <a:off x="1484311" y="685800"/>
            <a:ext cx="10018713" cy="71167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orbel"/>
              <a:buNone/>
            </a:pPr>
            <a:r>
              <a:rPr b="1" lang="en-US" sz="2400"/>
              <a:t>3.Selenium WebDriver(contd.) – Architecture</a:t>
            </a:r>
            <a:br>
              <a:rPr b="1" lang="en-US" sz="2400"/>
            </a:br>
            <a:endParaRPr sz="2400"/>
          </a:p>
        </p:txBody>
      </p:sp>
      <p:pic>
        <p:nvPicPr>
          <p:cNvPr id="373" name="Google Shape;373;p33"/>
          <p:cNvPicPr preferRelativeResize="0"/>
          <p:nvPr>
            <p:ph idx="1" type="body"/>
          </p:nvPr>
        </p:nvPicPr>
        <p:blipFill rotWithShape="1">
          <a:blip r:embed="rId3">
            <a:alphaModFix/>
          </a:blip>
          <a:srcRect b="0" l="0" r="0" t="0"/>
          <a:stretch/>
        </p:blipFill>
        <p:spPr>
          <a:xfrm>
            <a:off x="2365264" y="1397479"/>
            <a:ext cx="7049111" cy="374936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4"/>
          <p:cNvSpPr txBox="1"/>
          <p:nvPr>
            <p:ph type="title"/>
          </p:nvPr>
        </p:nvSpPr>
        <p:spPr>
          <a:xfrm>
            <a:off x="1484311" y="685800"/>
            <a:ext cx="10018713" cy="111712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3.Selenium WebDriver(contd.) – Architecture with RC</a:t>
            </a:r>
            <a:br>
              <a:rPr b="1" lang="en-US" sz="2400"/>
            </a:br>
            <a:endParaRPr sz="2400"/>
          </a:p>
        </p:txBody>
      </p:sp>
      <p:pic>
        <p:nvPicPr>
          <p:cNvPr id="379" name="Google Shape;379;p34"/>
          <p:cNvPicPr preferRelativeResize="0"/>
          <p:nvPr>
            <p:ph idx="1" type="body"/>
          </p:nvPr>
        </p:nvPicPr>
        <p:blipFill rotWithShape="1">
          <a:blip r:embed="rId3">
            <a:alphaModFix/>
          </a:blip>
          <a:srcRect b="0" l="0" r="0" t="0"/>
          <a:stretch/>
        </p:blipFill>
        <p:spPr>
          <a:xfrm>
            <a:off x="3390181" y="1802921"/>
            <a:ext cx="5503653" cy="4156492"/>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r>
              <a:rPr b="1" lang="en-US" sz="2400"/>
              <a:t>3.Selenium WebDriver(contd.) – Installation </a:t>
            </a:r>
            <a:endParaRPr sz="2400"/>
          </a:p>
        </p:txBody>
      </p:sp>
      <p:sp>
        <p:nvSpPr>
          <p:cNvPr id="385" name="Google Shape;385;p35"/>
          <p:cNvSpPr txBox="1"/>
          <p:nvPr>
            <p:ph idx="1" type="body"/>
          </p:nvPr>
        </p:nvSpPr>
        <p:spPr>
          <a:xfrm>
            <a:off x="1484310" y="2208363"/>
            <a:ext cx="10018713" cy="3582838"/>
          </a:xfrm>
          <a:prstGeom prst="rect">
            <a:avLst/>
          </a:prstGeom>
          <a:noFill/>
          <a:ln>
            <a:noFill/>
          </a:ln>
        </p:spPr>
        <p:txBody>
          <a:bodyPr anchorCtr="0" anchor="ctr"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Install Java SDK</a:t>
            </a:r>
            <a:endParaRPr/>
          </a:p>
          <a:p>
            <a:pPr indent="-285750" lvl="0" marL="285750" rtl="0" algn="l">
              <a:lnSpc>
                <a:spcPct val="100000"/>
              </a:lnSpc>
              <a:spcBef>
                <a:spcPts val="1080"/>
              </a:spcBef>
              <a:spcAft>
                <a:spcPts val="0"/>
              </a:spcAft>
              <a:buSzPts val="3480"/>
              <a:buChar char="•"/>
            </a:pPr>
            <a:r>
              <a:rPr lang="en-US"/>
              <a:t>Install Eclipse</a:t>
            </a:r>
            <a:endParaRPr/>
          </a:p>
          <a:p>
            <a:pPr indent="-285750" lvl="0" marL="285750" rtl="0" algn="l">
              <a:lnSpc>
                <a:spcPct val="100000"/>
              </a:lnSpc>
              <a:spcBef>
                <a:spcPts val="1080"/>
              </a:spcBef>
              <a:spcAft>
                <a:spcPts val="0"/>
              </a:spcAft>
              <a:buSzPts val="3480"/>
              <a:buChar char="•"/>
            </a:pPr>
            <a:r>
              <a:rPr lang="en-US"/>
              <a:t>Install Selenium Driver Files</a:t>
            </a:r>
            <a:endParaRPr/>
          </a:p>
          <a:p>
            <a:pPr indent="-64770" lvl="0" marL="285750" rtl="0" algn="l">
              <a:lnSpc>
                <a:spcPct val="100000"/>
              </a:lnSpc>
              <a:spcBef>
                <a:spcPts val="1080"/>
              </a:spcBef>
              <a:spcAft>
                <a:spcPts val="0"/>
              </a:spcAft>
              <a:buSzPts val="3480"/>
              <a:buNone/>
            </a:pPr>
            <a:r>
              <a:t/>
            </a:r>
            <a:endParaRPr/>
          </a:p>
        </p:txBody>
      </p:sp>
      <p:pic>
        <p:nvPicPr>
          <p:cNvPr id="386" name="Google Shape;386;p35"/>
          <p:cNvPicPr preferRelativeResize="0"/>
          <p:nvPr/>
        </p:nvPicPr>
        <p:blipFill rotWithShape="1">
          <a:blip r:embed="rId3">
            <a:alphaModFix/>
          </a:blip>
          <a:srcRect b="0" l="0" r="0" t="0"/>
          <a:stretch/>
        </p:blipFill>
        <p:spPr>
          <a:xfrm>
            <a:off x="4011283" y="2057241"/>
            <a:ext cx="2018581" cy="1350193"/>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387" name="Google Shape;387;p35"/>
          <p:cNvPicPr preferRelativeResize="0"/>
          <p:nvPr/>
        </p:nvPicPr>
        <p:blipFill rotWithShape="1">
          <a:blip r:embed="rId4">
            <a:alphaModFix/>
          </a:blip>
          <a:srcRect b="0" l="0" r="0" t="0"/>
          <a:stretch/>
        </p:blipFill>
        <p:spPr>
          <a:xfrm>
            <a:off x="6349041" y="3084382"/>
            <a:ext cx="2527539" cy="1753159"/>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388" name="Google Shape;388;p35"/>
          <p:cNvSpPr/>
          <p:nvPr/>
        </p:nvSpPr>
        <p:spPr>
          <a:xfrm>
            <a:off x="1484300" y="4253775"/>
            <a:ext cx="4359000" cy="500400"/>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6"/>
          <p:cNvSpPr txBox="1"/>
          <p:nvPr>
            <p:ph type="title"/>
          </p:nvPr>
        </p:nvSpPr>
        <p:spPr>
          <a:xfrm>
            <a:off x="1484311" y="685800"/>
            <a:ext cx="10018713" cy="57365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orbel"/>
              <a:buNone/>
            </a:pPr>
            <a:r>
              <a:rPr b="1" lang="en-US" sz="2400"/>
              <a:t>3.Selenium WebDriver(contd.) – Install Selenium Driver Files </a:t>
            </a:r>
            <a:br>
              <a:rPr b="1" lang="en-US" sz="2400"/>
            </a:br>
            <a:endParaRPr b="1" sz="2400"/>
          </a:p>
        </p:txBody>
      </p:sp>
      <p:sp>
        <p:nvSpPr>
          <p:cNvPr id="394" name="Google Shape;394;p36"/>
          <p:cNvSpPr txBox="1"/>
          <p:nvPr>
            <p:ph idx="1" type="body"/>
          </p:nvPr>
        </p:nvSpPr>
        <p:spPr>
          <a:xfrm>
            <a:off x="1593725" y="1031631"/>
            <a:ext cx="10018713" cy="2915286"/>
          </a:xfrm>
          <a:prstGeom prst="rect">
            <a:avLst/>
          </a:prstGeom>
          <a:noFill/>
          <a:ln>
            <a:noFill/>
          </a:ln>
        </p:spPr>
        <p:txBody>
          <a:bodyPr anchorCtr="0" anchor="ctr" bIns="45700" lIns="91425" spcFirstLastPara="1" rIns="91425" wrap="square" tIns="45700">
            <a:normAutofit/>
          </a:bodyPr>
          <a:lstStyle/>
          <a:p>
            <a:pPr indent="-457200" lvl="0" marL="457200" rtl="0" algn="l">
              <a:lnSpc>
                <a:spcPct val="100000"/>
              </a:lnSpc>
              <a:spcBef>
                <a:spcPts val="0"/>
              </a:spcBef>
              <a:spcAft>
                <a:spcPts val="0"/>
              </a:spcAft>
              <a:buSzPts val="3480"/>
              <a:buFont typeface="Corbel"/>
              <a:buAutoNum type="arabicPeriod"/>
            </a:pPr>
            <a:r>
              <a:rPr lang="en-US"/>
              <a:t>Download the </a:t>
            </a:r>
            <a:r>
              <a:rPr b="1" lang="en-US"/>
              <a:t>Selenium Java Client Driver. </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rPr lang="en-US"/>
              <a:t> </a:t>
            </a:r>
            <a:endParaRPr/>
          </a:p>
        </p:txBody>
      </p:sp>
      <p:sp>
        <p:nvSpPr>
          <p:cNvPr descr="https://www.guru99.com/images/download_java_client_driver_1.png" id="395" name="Google Shape;395;p3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pic>
        <p:nvPicPr>
          <p:cNvPr id="396" name="Google Shape;396;p36"/>
          <p:cNvPicPr preferRelativeResize="0"/>
          <p:nvPr/>
        </p:nvPicPr>
        <p:blipFill rotWithShape="1">
          <a:blip r:embed="rId3">
            <a:alphaModFix/>
          </a:blip>
          <a:srcRect b="0" l="0" r="0" t="0"/>
          <a:stretch/>
        </p:blipFill>
        <p:spPr>
          <a:xfrm>
            <a:off x="3040184" y="2429686"/>
            <a:ext cx="4454770" cy="1321698"/>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397" name="Google Shape;397;p36"/>
          <p:cNvSpPr/>
          <p:nvPr/>
        </p:nvSpPr>
        <p:spPr>
          <a:xfrm>
            <a:off x="1649046" y="4061489"/>
            <a:ext cx="898769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688726"/>
                </a:solidFill>
                <a:latin typeface="Corbel"/>
                <a:ea typeface="Corbel"/>
                <a:cs typeface="Corbel"/>
                <a:sym typeface="Corbel"/>
              </a:rPr>
              <a:t>2</a:t>
            </a:r>
            <a:r>
              <a:rPr b="0" i="0" lang="en-US" sz="2400" u="none" cap="none" strike="noStrike">
                <a:solidFill>
                  <a:schemeClr val="dk1"/>
                </a:solidFill>
                <a:latin typeface="Corbel"/>
                <a:ea typeface="Corbel"/>
                <a:cs typeface="Corbel"/>
                <a:sym typeface="Corbel"/>
              </a:rPr>
              <a:t>.</a:t>
            </a:r>
            <a:r>
              <a:rPr b="1" i="0" lang="en-US" sz="2400" u="none" cap="none" strike="noStrike">
                <a:solidFill>
                  <a:schemeClr val="dk1"/>
                </a:solidFill>
                <a:latin typeface="Corbel"/>
                <a:ea typeface="Corbel"/>
                <a:cs typeface="Corbel"/>
                <a:sym typeface="Corbel"/>
              </a:rPr>
              <a:t> </a:t>
            </a:r>
            <a:r>
              <a:rPr b="0" i="0" lang="en-US" sz="2400" u="none" cap="none" strike="noStrike">
                <a:solidFill>
                  <a:schemeClr val="dk1"/>
                </a:solidFill>
                <a:latin typeface="Corbel"/>
                <a:ea typeface="Corbel"/>
                <a:cs typeface="Corbel"/>
                <a:sym typeface="Corbel"/>
              </a:rPr>
              <a:t>Configure Eclipse IDE with WebDriver</a:t>
            </a:r>
            <a:br>
              <a:rPr b="1" i="0" lang="en-US" sz="2400" u="none" cap="none" strike="noStrike">
                <a:solidFill>
                  <a:schemeClr val="dk1"/>
                </a:solidFill>
                <a:latin typeface="Corbel"/>
                <a:ea typeface="Corbel"/>
                <a:cs typeface="Corbel"/>
                <a:sym typeface="Corbel"/>
              </a:rPr>
            </a:br>
            <a:br>
              <a:rPr b="1" i="0" lang="en-US" sz="2400" u="none" cap="none" strike="noStrike">
                <a:solidFill>
                  <a:schemeClr val="dk1"/>
                </a:solidFill>
                <a:latin typeface="Corbel"/>
                <a:ea typeface="Corbel"/>
                <a:cs typeface="Corbel"/>
                <a:sym typeface="Corbel"/>
              </a:rPr>
            </a:br>
            <a:r>
              <a:rPr b="1" i="1" lang="en-US" sz="2400" u="sng" cap="none" strike="noStrike">
                <a:solidFill>
                  <a:schemeClr val="dk1"/>
                </a:solidFill>
                <a:latin typeface="Corbel"/>
                <a:ea typeface="Corbel"/>
                <a:cs typeface="Corbel"/>
                <a:sym typeface="Corbel"/>
                <a:hlinkClick r:id="rId4">
                  <a:extLst>
                    <a:ext uri="{A12FA001-AC4F-418D-AE19-62706E023703}">
                      <ahyp:hlinkClr val="tx"/>
                    </a:ext>
                  </a:extLst>
                </a:hlinkClick>
              </a:rPr>
              <a:t>https://www.guru99.com/installing-selenium-webdriver.html</a:t>
            </a:r>
            <a:endParaRPr b="0" i="1" sz="2400" u="none" cap="none" strike="noStrike">
              <a:solidFill>
                <a:schemeClr val="dk1"/>
              </a:solidFill>
              <a:latin typeface="Corbel"/>
              <a:ea typeface="Corbel"/>
              <a:cs typeface="Corbel"/>
              <a:sym typeface="Corbel"/>
            </a:endParaRPr>
          </a:p>
        </p:txBody>
      </p:sp>
      <p:pic>
        <p:nvPicPr>
          <p:cNvPr id="398" name="Google Shape;398;p36"/>
          <p:cNvPicPr preferRelativeResize="0"/>
          <p:nvPr/>
        </p:nvPicPr>
        <p:blipFill rotWithShape="1">
          <a:blip r:embed="rId5">
            <a:alphaModFix/>
          </a:blip>
          <a:srcRect b="0" l="0" r="0" t="0"/>
          <a:stretch/>
        </p:blipFill>
        <p:spPr>
          <a:xfrm>
            <a:off x="9641717" y="206661"/>
            <a:ext cx="1209724" cy="142079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7"/>
          <p:cNvSpPr txBox="1"/>
          <p:nvPr>
            <p:ph idx="1" type="body"/>
          </p:nvPr>
        </p:nvSpPr>
        <p:spPr>
          <a:xfrm>
            <a:off x="1973135" y="1068857"/>
            <a:ext cx="10018800" cy="4720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8700"/>
              <a:buNone/>
            </a:pPr>
            <a:r>
              <a:rPr b="1" lang="en-US" sz="6000"/>
              <a:t>First Selenium </a:t>
            </a:r>
            <a:endParaRPr b="1" sz="6000"/>
          </a:p>
          <a:p>
            <a:pPr indent="0" lvl="0" marL="0" rtl="0" algn="l">
              <a:lnSpc>
                <a:spcPct val="100000"/>
              </a:lnSpc>
              <a:spcBef>
                <a:spcPts val="1800"/>
              </a:spcBef>
              <a:spcAft>
                <a:spcPts val="0"/>
              </a:spcAft>
              <a:buSzPts val="8700"/>
              <a:buNone/>
            </a:pPr>
            <a:r>
              <a:rPr b="1" lang="en-US" sz="6000"/>
              <a:t>Web driver Script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8"/>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Font typeface="Corbel"/>
              <a:buNone/>
            </a:pPr>
            <a:br>
              <a:rPr b="1" lang="en-US" sz="2400"/>
            </a:br>
            <a:br>
              <a:rPr b="1" lang="en-US" sz="2400"/>
            </a:br>
            <a:endParaRPr sz="2400"/>
          </a:p>
        </p:txBody>
      </p:sp>
      <p:pic>
        <p:nvPicPr>
          <p:cNvPr id="409" name="Google Shape;409;p38"/>
          <p:cNvPicPr preferRelativeResize="0"/>
          <p:nvPr>
            <p:ph idx="1" type="body"/>
          </p:nvPr>
        </p:nvPicPr>
        <p:blipFill rotWithShape="1">
          <a:blip r:embed="rId3">
            <a:alphaModFix/>
          </a:blip>
          <a:srcRect b="0" l="0" r="0" t="0"/>
          <a:stretch/>
        </p:blipFill>
        <p:spPr>
          <a:xfrm>
            <a:off x="2203939" y="1856657"/>
            <a:ext cx="8964246" cy="4604116"/>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10" name="Google Shape;410;p38"/>
          <p:cNvSpPr/>
          <p:nvPr/>
        </p:nvSpPr>
        <p:spPr>
          <a:xfrm>
            <a:off x="1930400" y="1256493"/>
            <a:ext cx="60960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688726"/>
                </a:solidFill>
                <a:latin typeface="Corbel"/>
                <a:ea typeface="Corbel"/>
                <a:cs typeface="Corbel"/>
                <a:sym typeface="Corbel"/>
              </a:rPr>
              <a:t>3</a:t>
            </a:r>
            <a:r>
              <a:rPr b="0" i="0" lang="en-US" sz="2400" u="none" cap="none" strike="noStrike">
                <a:solidFill>
                  <a:schemeClr val="dk1"/>
                </a:solidFill>
                <a:latin typeface="Corbel"/>
                <a:ea typeface="Corbel"/>
                <a:cs typeface="Corbel"/>
                <a:sym typeface="Corbel"/>
              </a:rPr>
              <a:t>.</a:t>
            </a:r>
            <a:r>
              <a:rPr b="1" i="0" lang="en-US" sz="2400" u="none" cap="none" strike="noStrike">
                <a:solidFill>
                  <a:schemeClr val="dk1"/>
                </a:solidFill>
                <a:latin typeface="Corbel"/>
                <a:ea typeface="Corbel"/>
                <a:cs typeface="Corbel"/>
                <a:sym typeface="Corbel"/>
              </a:rPr>
              <a:t> </a:t>
            </a:r>
            <a:r>
              <a:rPr b="0" i="0" lang="en-US" sz="2400" u="none" cap="none" strike="noStrike">
                <a:solidFill>
                  <a:schemeClr val="dk1"/>
                </a:solidFill>
                <a:latin typeface="Corbel"/>
                <a:ea typeface="Corbel"/>
                <a:cs typeface="Corbel"/>
                <a:sym typeface="Corbel"/>
              </a:rPr>
              <a:t>First Selenium Web driver Script</a:t>
            </a:r>
            <a:br>
              <a:rPr b="1" i="0" lang="en-US" sz="2400" u="none" cap="none" strike="noStrike">
                <a:solidFill>
                  <a:schemeClr val="dk1"/>
                </a:solidFill>
                <a:latin typeface="Corbel"/>
                <a:ea typeface="Corbel"/>
                <a:cs typeface="Corbel"/>
                <a:sym typeface="Corbel"/>
              </a:rPr>
            </a:br>
            <a:br>
              <a:rPr b="1" i="0" lang="en-US" sz="2400" u="none" cap="none" strike="noStrike">
                <a:solidFill>
                  <a:schemeClr val="dk1"/>
                </a:solidFill>
                <a:latin typeface="Corbel"/>
                <a:ea typeface="Corbel"/>
                <a:cs typeface="Corbel"/>
                <a:sym typeface="Corbel"/>
              </a:rPr>
            </a:br>
            <a:endParaRPr b="0" i="0" sz="2400" u="none" cap="none" strike="noStrike">
              <a:solidFill>
                <a:schemeClr val="dk1"/>
              </a:solidFill>
              <a:latin typeface="Corbel"/>
              <a:ea typeface="Corbel"/>
              <a:cs typeface="Corbel"/>
              <a:sym typeface="Corbe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9"/>
          <p:cNvSpPr txBox="1"/>
          <p:nvPr>
            <p:ph type="title"/>
          </p:nvPr>
        </p:nvSpPr>
        <p:spPr>
          <a:xfrm>
            <a:off x="1914156" y="804986"/>
            <a:ext cx="10018713" cy="8689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orbel"/>
              <a:buNone/>
            </a:pPr>
            <a:r>
              <a:rPr b="1" lang="en-US" sz="2400"/>
              <a:t>1.Instantiating objects and variables</a:t>
            </a:r>
            <a:br>
              <a:rPr b="1" lang="en-US" sz="2400"/>
            </a:br>
            <a:r>
              <a:rPr lang="en-US" sz="1800"/>
              <a:t>The default Firefox profile will be launched by our Java program</a:t>
            </a:r>
            <a:br>
              <a:rPr b="1" lang="en-US" sz="1800"/>
            </a:br>
            <a:endParaRPr sz="1800"/>
          </a:p>
        </p:txBody>
      </p:sp>
      <p:pic>
        <p:nvPicPr>
          <p:cNvPr id="416" name="Google Shape;416;p39"/>
          <p:cNvPicPr preferRelativeResize="0"/>
          <p:nvPr>
            <p:ph idx="1" type="body"/>
          </p:nvPr>
        </p:nvPicPr>
        <p:blipFill rotWithShape="1">
          <a:blip r:embed="rId3">
            <a:alphaModFix/>
          </a:blip>
          <a:srcRect b="0" l="0" r="0" t="0"/>
          <a:stretch/>
        </p:blipFill>
        <p:spPr>
          <a:xfrm>
            <a:off x="2665666" y="1673948"/>
            <a:ext cx="3649164" cy="296897"/>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17" name="Google Shape;417;p39"/>
          <p:cNvSpPr txBox="1"/>
          <p:nvPr/>
        </p:nvSpPr>
        <p:spPr>
          <a:xfrm>
            <a:off x="1914155" y="2629878"/>
            <a:ext cx="10018713" cy="8689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rbel"/>
              <a:buNone/>
            </a:pPr>
            <a:r>
              <a:rPr b="1" i="0" lang="en-US" sz="2400" u="none" cap="none" strike="noStrike">
                <a:solidFill>
                  <a:schemeClr val="dk1"/>
                </a:solidFill>
                <a:latin typeface="Corbel"/>
                <a:ea typeface="Corbel"/>
                <a:cs typeface="Corbel"/>
                <a:sym typeface="Corbel"/>
              </a:rPr>
              <a:t>2.Launching a Browser Session</a:t>
            </a:r>
            <a:br>
              <a:rPr b="1" i="0" lang="en-US" sz="2400" u="none" cap="none" strike="noStrike">
                <a:solidFill>
                  <a:schemeClr val="dk1"/>
                </a:solidFill>
                <a:latin typeface="Corbel"/>
                <a:ea typeface="Corbel"/>
                <a:cs typeface="Corbel"/>
                <a:sym typeface="Corbel"/>
              </a:rPr>
            </a:br>
            <a:r>
              <a:rPr b="1" i="0" lang="en-US" sz="1800" u="none" cap="none" strike="noStrike">
                <a:solidFill>
                  <a:schemeClr val="dk1"/>
                </a:solidFill>
                <a:latin typeface="Corbel"/>
                <a:ea typeface="Corbel"/>
                <a:cs typeface="Corbel"/>
                <a:sym typeface="Corbel"/>
              </a:rPr>
              <a:t>get()</a:t>
            </a:r>
            <a:r>
              <a:rPr b="0" i="0" lang="en-US" sz="1800" u="none" cap="none" strike="noStrike">
                <a:solidFill>
                  <a:schemeClr val="dk1"/>
                </a:solidFill>
                <a:latin typeface="Corbel"/>
                <a:ea typeface="Corbel"/>
                <a:cs typeface="Corbel"/>
                <a:sym typeface="Corbel"/>
              </a:rPr>
              <a:t> method is used to launch a new browser session and directs it to the URL</a:t>
            </a:r>
            <a:endParaRPr b="0" i="0" sz="1800" u="none" cap="none" strike="noStrike">
              <a:solidFill>
                <a:schemeClr val="dk1"/>
              </a:solidFill>
              <a:latin typeface="Corbel"/>
              <a:ea typeface="Corbel"/>
              <a:cs typeface="Corbel"/>
              <a:sym typeface="Corbel"/>
            </a:endParaRPr>
          </a:p>
        </p:txBody>
      </p:sp>
      <p:pic>
        <p:nvPicPr>
          <p:cNvPr id="418" name="Google Shape;418;p39"/>
          <p:cNvPicPr preferRelativeResize="0"/>
          <p:nvPr/>
        </p:nvPicPr>
        <p:blipFill rotWithShape="1">
          <a:blip r:embed="rId4">
            <a:alphaModFix/>
          </a:blip>
          <a:srcRect b="0" l="0" r="0" t="0"/>
          <a:stretch/>
        </p:blipFill>
        <p:spPr>
          <a:xfrm>
            <a:off x="2798527" y="3498840"/>
            <a:ext cx="4061812" cy="294074"/>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419" name="Google Shape;419;p39"/>
          <p:cNvPicPr preferRelativeResize="0"/>
          <p:nvPr/>
        </p:nvPicPr>
        <p:blipFill rotWithShape="1">
          <a:blip r:embed="rId5">
            <a:alphaModFix/>
          </a:blip>
          <a:srcRect b="0" l="0" r="0" t="0"/>
          <a:stretch/>
        </p:blipFill>
        <p:spPr>
          <a:xfrm>
            <a:off x="2798527" y="4041250"/>
            <a:ext cx="1585097" cy="30708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20" name="Google Shape;420;p39"/>
          <p:cNvSpPr txBox="1"/>
          <p:nvPr/>
        </p:nvSpPr>
        <p:spPr>
          <a:xfrm>
            <a:off x="2004032" y="4661876"/>
            <a:ext cx="10018713" cy="8689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rbel"/>
              <a:buNone/>
            </a:pPr>
            <a:r>
              <a:rPr b="1" i="0" lang="en-US" sz="2400" u="none" cap="none" strike="noStrike">
                <a:solidFill>
                  <a:schemeClr val="dk1"/>
                </a:solidFill>
                <a:latin typeface="Corbel"/>
                <a:ea typeface="Corbel"/>
                <a:cs typeface="Corbel"/>
                <a:sym typeface="Corbel"/>
              </a:rPr>
              <a:t>3. Get the Actual Page Title</a:t>
            </a:r>
            <a:br>
              <a:rPr b="1" i="0" lang="en-US" sz="2400" u="none" cap="none" strike="noStrike">
                <a:solidFill>
                  <a:schemeClr val="dk1"/>
                </a:solidFill>
                <a:latin typeface="Corbel"/>
                <a:ea typeface="Corbel"/>
                <a:cs typeface="Corbel"/>
                <a:sym typeface="Corbel"/>
              </a:rPr>
            </a:br>
            <a:r>
              <a:rPr b="1" i="0" lang="en-US" sz="1800" u="none" cap="none" strike="noStrike">
                <a:solidFill>
                  <a:schemeClr val="dk1"/>
                </a:solidFill>
                <a:latin typeface="Corbel"/>
                <a:ea typeface="Corbel"/>
                <a:cs typeface="Corbel"/>
                <a:sym typeface="Corbel"/>
              </a:rPr>
              <a:t>getTitle()</a:t>
            </a:r>
            <a:r>
              <a:rPr b="0" i="0" lang="en-US" sz="1800" u="none" cap="none" strike="noStrike">
                <a:solidFill>
                  <a:schemeClr val="dk1"/>
                </a:solidFill>
                <a:latin typeface="Corbel"/>
                <a:ea typeface="Corbel"/>
                <a:cs typeface="Corbel"/>
                <a:sym typeface="Corbel"/>
              </a:rPr>
              <a:t> method that is always used to obtain the page title of the currently loaded page.</a:t>
            </a:r>
            <a:endParaRPr b="0" i="0" sz="1800" u="none" cap="none" strike="noStrike">
              <a:solidFill>
                <a:schemeClr val="dk1"/>
              </a:solidFill>
              <a:latin typeface="Corbel"/>
              <a:ea typeface="Corbel"/>
              <a:cs typeface="Corbel"/>
              <a:sym typeface="Corbel"/>
            </a:endParaRPr>
          </a:p>
        </p:txBody>
      </p:sp>
      <p:pic>
        <p:nvPicPr>
          <p:cNvPr id="421" name="Google Shape;421;p39"/>
          <p:cNvPicPr preferRelativeResize="0"/>
          <p:nvPr/>
        </p:nvPicPr>
        <p:blipFill rotWithShape="1">
          <a:blip r:embed="rId6">
            <a:alphaModFix/>
          </a:blip>
          <a:srcRect b="0" l="0" r="0" t="0"/>
          <a:stretch/>
        </p:blipFill>
        <p:spPr>
          <a:xfrm>
            <a:off x="2798527" y="5844379"/>
            <a:ext cx="2789473" cy="326090"/>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40"/>
          <p:cNvPicPr preferRelativeResize="0"/>
          <p:nvPr>
            <p:ph idx="1" type="body"/>
          </p:nvPr>
        </p:nvPicPr>
        <p:blipFill rotWithShape="1">
          <a:blip r:embed="rId3">
            <a:alphaModFix/>
          </a:blip>
          <a:srcRect b="0" l="0" r="0" t="0"/>
          <a:stretch/>
        </p:blipFill>
        <p:spPr>
          <a:xfrm>
            <a:off x="2713506" y="2015039"/>
            <a:ext cx="4179663" cy="1376838"/>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27" name="Google Shape;427;p40"/>
          <p:cNvSpPr txBox="1"/>
          <p:nvPr>
            <p:ph type="title"/>
          </p:nvPr>
        </p:nvSpPr>
        <p:spPr>
          <a:xfrm>
            <a:off x="1484311" y="685800"/>
            <a:ext cx="10018713" cy="112736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rbel"/>
              <a:buNone/>
            </a:pPr>
            <a:r>
              <a:rPr b="1" i="0" lang="en-US" sz="2400" u="none" cap="none" strike="noStrike">
                <a:solidFill>
                  <a:schemeClr val="dk1"/>
                </a:solidFill>
                <a:latin typeface="Corbel"/>
                <a:ea typeface="Corbel"/>
                <a:cs typeface="Corbel"/>
                <a:sym typeface="Corbel"/>
              </a:rPr>
              <a:t>4. Compare the Expected and Actual Values</a:t>
            </a:r>
            <a:br>
              <a:rPr b="1" i="0" lang="en-US" sz="2400" u="none" cap="none" strike="noStrike">
                <a:solidFill>
                  <a:schemeClr val="dk1"/>
                </a:solidFill>
                <a:latin typeface="Corbel"/>
                <a:ea typeface="Corbel"/>
                <a:cs typeface="Corbel"/>
                <a:sym typeface="Corbel"/>
              </a:rPr>
            </a:br>
            <a:r>
              <a:rPr b="0" i="0" lang="en-US" sz="1800" u="none" cap="none" strike="noStrike">
                <a:solidFill>
                  <a:schemeClr val="dk1"/>
                </a:solidFill>
                <a:latin typeface="Corbel"/>
                <a:ea typeface="Corbel"/>
                <a:cs typeface="Corbel"/>
                <a:sym typeface="Corbel"/>
              </a:rPr>
              <a:t>simply uses a basic Java if-else structure to compare the actual title with the expected one..</a:t>
            </a:r>
            <a:endParaRPr b="0" i="0" sz="1800" u="none" cap="none" strike="noStrike">
              <a:solidFill>
                <a:schemeClr val="dk1"/>
              </a:solidFill>
              <a:latin typeface="Corbel"/>
              <a:ea typeface="Corbel"/>
              <a:cs typeface="Corbel"/>
              <a:sym typeface="Corbel"/>
            </a:endParaRPr>
          </a:p>
        </p:txBody>
      </p:sp>
      <p:sp>
        <p:nvSpPr>
          <p:cNvPr id="428" name="Google Shape;428;p40"/>
          <p:cNvSpPr txBox="1"/>
          <p:nvPr/>
        </p:nvSpPr>
        <p:spPr>
          <a:xfrm>
            <a:off x="1621080" y="3862754"/>
            <a:ext cx="10018713" cy="112736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orbel"/>
              <a:buNone/>
            </a:pPr>
            <a:r>
              <a:rPr b="1" i="0" lang="en-US" sz="2400" u="none" cap="none" strike="noStrike">
                <a:solidFill>
                  <a:schemeClr val="dk1"/>
                </a:solidFill>
                <a:latin typeface="Corbel"/>
                <a:ea typeface="Corbel"/>
                <a:cs typeface="Corbel"/>
                <a:sym typeface="Corbel"/>
              </a:rPr>
              <a:t>5. Terminating a Browser Session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orbel"/>
              <a:buNone/>
            </a:pPr>
            <a:r>
              <a:rPr b="0" i="0" lang="en-US" sz="1800" u="none" cap="none" strike="noStrike">
                <a:solidFill>
                  <a:schemeClr val="dk1"/>
                </a:solidFill>
                <a:latin typeface="Corbel"/>
                <a:ea typeface="Corbel"/>
                <a:cs typeface="Corbel"/>
                <a:sym typeface="Corbel"/>
              </a:rPr>
              <a:t>simply uses to close the browser window...</a:t>
            </a:r>
            <a:endParaRPr b="0" i="0" sz="1800" u="none" cap="none" strike="noStrike">
              <a:solidFill>
                <a:schemeClr val="dk1"/>
              </a:solidFill>
              <a:latin typeface="Corbel"/>
              <a:ea typeface="Corbel"/>
              <a:cs typeface="Corbel"/>
              <a:sym typeface="Corbel"/>
            </a:endParaRPr>
          </a:p>
        </p:txBody>
      </p:sp>
      <p:pic>
        <p:nvPicPr>
          <p:cNvPr id="429" name="Google Shape;429;p40"/>
          <p:cNvPicPr preferRelativeResize="0"/>
          <p:nvPr/>
        </p:nvPicPr>
        <p:blipFill rotWithShape="1">
          <a:blip r:embed="rId4">
            <a:alphaModFix/>
          </a:blip>
          <a:srcRect b="0" l="0" r="0" t="0"/>
          <a:stretch/>
        </p:blipFill>
        <p:spPr>
          <a:xfrm>
            <a:off x="2713506" y="4990123"/>
            <a:ext cx="1888455" cy="34778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1"/>
          <p:cNvSpPr txBox="1"/>
          <p:nvPr>
            <p:ph type="title"/>
          </p:nvPr>
        </p:nvSpPr>
        <p:spPr>
          <a:xfrm>
            <a:off x="1484311" y="733168"/>
            <a:ext cx="10018713" cy="3361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688726"/>
              </a:buClr>
              <a:buSzPts val="2430"/>
              <a:buFont typeface="Corbel"/>
              <a:buNone/>
            </a:pPr>
            <a:r>
              <a:rPr b="1" lang="en-US" sz="2430">
                <a:solidFill>
                  <a:srgbClr val="688726"/>
                </a:solidFill>
              </a:rPr>
              <a:t>4</a:t>
            </a:r>
            <a:r>
              <a:rPr b="1" lang="en-US" sz="2430"/>
              <a:t>. </a:t>
            </a:r>
            <a:r>
              <a:rPr lang="en-US" sz="2160"/>
              <a:t>Running the Test</a:t>
            </a:r>
            <a:br>
              <a:rPr lang="en-US" sz="2160"/>
            </a:br>
            <a:r>
              <a:rPr lang="en-US" sz="2430"/>
              <a:t>On Eclipse's menu bar, click </a:t>
            </a:r>
            <a:r>
              <a:rPr b="1" lang="en-US" sz="2430"/>
              <a:t>Run &gt; Run.</a:t>
            </a:r>
            <a:br>
              <a:rPr lang="en-US" sz="2430"/>
            </a:br>
            <a:r>
              <a:rPr lang="en-US" sz="2430"/>
              <a:t>Press </a:t>
            </a:r>
            <a:r>
              <a:rPr b="1" lang="en-US" sz="2430"/>
              <a:t>Ctrl+F11</a:t>
            </a:r>
            <a:r>
              <a:rPr lang="en-US" sz="2430"/>
              <a:t> to run the entire code</a:t>
            </a:r>
            <a:r>
              <a:rPr lang="en-US" sz="3600"/>
              <a:t>.</a:t>
            </a:r>
            <a:br>
              <a:rPr lang="en-US" sz="3600"/>
            </a:br>
            <a:br>
              <a:rPr lang="en-US" sz="3600"/>
            </a:br>
            <a:br>
              <a:rPr b="1" lang="en-US" sz="3600"/>
            </a:br>
            <a:br>
              <a:rPr lang="en-US" sz="3600"/>
            </a:br>
            <a:endParaRPr sz="3600"/>
          </a:p>
        </p:txBody>
      </p:sp>
      <p:pic>
        <p:nvPicPr>
          <p:cNvPr id="435" name="Google Shape;435;p41"/>
          <p:cNvPicPr preferRelativeResize="0"/>
          <p:nvPr>
            <p:ph idx="1" type="body"/>
          </p:nvPr>
        </p:nvPicPr>
        <p:blipFill rotWithShape="1">
          <a:blip r:embed="rId3">
            <a:alphaModFix/>
          </a:blip>
          <a:srcRect b="0" l="0" r="0" t="0"/>
          <a:stretch/>
        </p:blipFill>
        <p:spPr>
          <a:xfrm>
            <a:off x="2718505" y="2280164"/>
            <a:ext cx="3514725" cy="94297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36" name="Google Shape;436;p41"/>
          <p:cNvSpPr txBox="1"/>
          <p:nvPr/>
        </p:nvSpPr>
        <p:spPr>
          <a:xfrm>
            <a:off x="1484310" y="3642766"/>
            <a:ext cx="10018713" cy="112736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88726"/>
              </a:buClr>
              <a:buSzPts val="2400"/>
              <a:buFont typeface="Corbel"/>
              <a:buNone/>
            </a:pPr>
            <a:r>
              <a:rPr b="1" i="0" lang="en-US" sz="2400" u="none" cap="none" strike="noStrike">
                <a:solidFill>
                  <a:srgbClr val="688726"/>
                </a:solidFill>
                <a:latin typeface="Corbel"/>
                <a:ea typeface="Corbel"/>
                <a:cs typeface="Corbel"/>
                <a:sym typeface="Corbel"/>
              </a:rPr>
              <a:t>5</a:t>
            </a:r>
            <a:r>
              <a:rPr b="1" i="0" lang="en-US" sz="2400" u="none" cap="none" strike="noStrike">
                <a:solidFill>
                  <a:schemeClr val="dk1"/>
                </a:solidFill>
                <a:latin typeface="Corbel"/>
                <a:ea typeface="Corbel"/>
                <a:cs typeface="Corbel"/>
                <a:sym typeface="Corbel"/>
              </a:rPr>
              <a:t>. </a:t>
            </a:r>
            <a:r>
              <a:rPr b="0" i="0" lang="en-US" sz="2400" u="none" cap="none" strike="noStrike">
                <a:solidFill>
                  <a:schemeClr val="dk1"/>
                </a:solidFill>
                <a:latin typeface="Corbel"/>
                <a:ea typeface="Corbel"/>
                <a:cs typeface="Corbel"/>
                <a:sym typeface="Corbel"/>
              </a:rPr>
              <a:t>Final Result – Console 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orbel"/>
              <a:buNone/>
            </a:pPr>
            <a:r>
              <a:t/>
            </a:r>
            <a:endParaRPr b="0" i="0" sz="2400" u="none" cap="none" strike="noStrike">
              <a:solidFill>
                <a:schemeClr val="dk1"/>
              </a:solidFill>
              <a:latin typeface="Corbel"/>
              <a:ea typeface="Corbel"/>
              <a:cs typeface="Corbel"/>
              <a:sym typeface="Corbel"/>
            </a:endParaRPr>
          </a:p>
        </p:txBody>
      </p:sp>
      <p:pic>
        <p:nvPicPr>
          <p:cNvPr id="437" name="Google Shape;437;p41"/>
          <p:cNvPicPr preferRelativeResize="0"/>
          <p:nvPr/>
        </p:nvPicPr>
        <p:blipFill rotWithShape="1">
          <a:blip r:embed="rId4">
            <a:alphaModFix/>
          </a:blip>
          <a:srcRect b="0" l="0" r="0" t="0"/>
          <a:stretch/>
        </p:blipFill>
        <p:spPr>
          <a:xfrm>
            <a:off x="2438419" y="4288828"/>
            <a:ext cx="6179875" cy="2209992"/>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6000"/>
              <a:buFont typeface="Corbel"/>
              <a:buNone/>
            </a:pPr>
            <a:br>
              <a:rPr b="1" lang="en-US" sz="6000"/>
            </a:br>
            <a:endParaRPr sz="6000"/>
          </a:p>
        </p:txBody>
      </p:sp>
      <p:sp>
        <p:nvSpPr>
          <p:cNvPr id="443" name="Google Shape;443;p42"/>
          <p:cNvSpPr txBox="1"/>
          <p:nvPr>
            <p:ph idx="1" type="body"/>
          </p:nvPr>
        </p:nvSpPr>
        <p:spPr>
          <a:xfrm>
            <a:off x="1714969" y="2007972"/>
            <a:ext cx="10018713" cy="312420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8700"/>
              <a:buNone/>
            </a:pPr>
            <a:r>
              <a:rPr b="1" lang="en-US" sz="6000"/>
              <a:t>Locating GUI</a:t>
            </a:r>
            <a:endParaRPr/>
          </a:p>
          <a:p>
            <a:pPr indent="0" lvl="0" marL="0" rtl="0" algn="l">
              <a:lnSpc>
                <a:spcPct val="100000"/>
              </a:lnSpc>
              <a:spcBef>
                <a:spcPts val="1800"/>
              </a:spcBef>
              <a:spcAft>
                <a:spcPts val="0"/>
              </a:spcAft>
              <a:buSzPts val="8700"/>
              <a:buNone/>
            </a:pPr>
            <a:r>
              <a:rPr b="1" lang="en-US" sz="6000"/>
              <a:t> Elements</a:t>
            </a:r>
            <a:endParaRPr sz="6000"/>
          </a:p>
        </p:txBody>
      </p:sp>
      <p:pic>
        <p:nvPicPr>
          <p:cNvPr id="444" name="Google Shape;444;p42"/>
          <p:cNvPicPr preferRelativeResize="0"/>
          <p:nvPr/>
        </p:nvPicPr>
        <p:blipFill rotWithShape="1">
          <a:blip r:embed="rId3">
            <a:alphaModFix/>
          </a:blip>
          <a:srcRect b="0" l="0" r="0" t="0"/>
          <a:stretch/>
        </p:blipFill>
        <p:spPr>
          <a:xfrm>
            <a:off x="6263009" y="987652"/>
            <a:ext cx="5470673" cy="503303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43"/>
          <p:cNvPicPr preferRelativeResize="0"/>
          <p:nvPr>
            <p:ph idx="1" type="body"/>
          </p:nvPr>
        </p:nvPicPr>
        <p:blipFill rotWithShape="1">
          <a:blip r:embed="rId3">
            <a:alphaModFix/>
          </a:blip>
          <a:srcRect b="0" l="0" r="0" t="0"/>
          <a:stretch/>
        </p:blipFill>
        <p:spPr>
          <a:xfrm>
            <a:off x="2404378" y="1146846"/>
            <a:ext cx="8164767" cy="3993564"/>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4"/>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430"/>
              <a:buFont typeface="Corbel"/>
              <a:buNone/>
            </a:pPr>
            <a:r>
              <a:rPr lang="en-US" sz="2430"/>
              <a:t>We used the </a:t>
            </a:r>
            <a:r>
              <a:rPr b="1" lang="en-US" sz="2430"/>
              <a:t>getTagName()</a:t>
            </a:r>
            <a:r>
              <a:rPr lang="en-US" sz="2430"/>
              <a:t> method to extract the tag name of that particular element whose id is "email". When run, this code should be able to correctly identify the tag name "input" and will print it out on Eclipse's Console window</a:t>
            </a:r>
            <a:r>
              <a:rPr lang="en-US" sz="3600"/>
              <a:t>.</a:t>
            </a:r>
            <a:endParaRPr sz="3600"/>
          </a:p>
        </p:txBody>
      </p:sp>
      <p:pic>
        <p:nvPicPr>
          <p:cNvPr id="455" name="Google Shape;455;p44"/>
          <p:cNvPicPr preferRelativeResize="0"/>
          <p:nvPr>
            <p:ph idx="1" type="body"/>
          </p:nvPr>
        </p:nvPicPr>
        <p:blipFill rotWithShape="1">
          <a:blip r:embed="rId3">
            <a:alphaModFix/>
          </a:blip>
          <a:srcRect b="0" l="0" r="0" t="0"/>
          <a:stretch/>
        </p:blipFill>
        <p:spPr>
          <a:xfrm>
            <a:off x="1918106" y="2767220"/>
            <a:ext cx="8558002" cy="2191959"/>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5"/>
          <p:cNvSpPr txBox="1"/>
          <p:nvPr>
            <p:ph idx="1" type="body"/>
          </p:nvPr>
        </p:nvSpPr>
        <p:spPr>
          <a:xfrm>
            <a:off x="1624354" y="1892642"/>
            <a:ext cx="10018713" cy="31242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8048"/>
              <a:buNone/>
            </a:pPr>
            <a:r>
              <a:rPr b="1" lang="en-US" sz="5550"/>
              <a:t>Closing and </a:t>
            </a:r>
            <a:endParaRPr b="1" sz="5550"/>
          </a:p>
          <a:p>
            <a:pPr indent="0" lvl="0" marL="0" rtl="0" algn="l">
              <a:lnSpc>
                <a:spcPct val="90000"/>
              </a:lnSpc>
              <a:spcBef>
                <a:spcPts val="1710"/>
              </a:spcBef>
              <a:spcAft>
                <a:spcPts val="0"/>
              </a:spcAft>
              <a:buSzPts val="8048"/>
              <a:buNone/>
            </a:pPr>
            <a:r>
              <a:rPr b="1" lang="en-US" sz="5550"/>
              <a:t>Quitting </a:t>
            </a:r>
            <a:endParaRPr/>
          </a:p>
          <a:p>
            <a:pPr indent="0" lvl="0" marL="0" rtl="0" algn="l">
              <a:lnSpc>
                <a:spcPct val="90000"/>
              </a:lnSpc>
              <a:spcBef>
                <a:spcPts val="1710"/>
              </a:spcBef>
              <a:spcAft>
                <a:spcPts val="0"/>
              </a:spcAft>
              <a:buSzPts val="8048"/>
              <a:buNone/>
            </a:pPr>
            <a:r>
              <a:rPr b="1" lang="en-US" sz="5550"/>
              <a:t>Browser Windows</a:t>
            </a:r>
            <a:endParaRPr/>
          </a:p>
          <a:p>
            <a:pPr indent="-81343" lvl="0" marL="285750" rtl="0" algn="l">
              <a:lnSpc>
                <a:spcPct val="90000"/>
              </a:lnSpc>
              <a:spcBef>
                <a:spcPts val="1044"/>
              </a:spcBef>
              <a:spcAft>
                <a:spcPts val="0"/>
              </a:spcAft>
              <a:buSzPts val="3219"/>
              <a:buNone/>
            </a:pPr>
            <a:r>
              <a:t/>
            </a:r>
            <a:endParaRPr sz="222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6"/>
          <p:cNvSpPr txBox="1"/>
          <p:nvPr>
            <p:ph idx="1" type="body"/>
          </p:nvPr>
        </p:nvSpPr>
        <p:spPr>
          <a:xfrm>
            <a:off x="1484310" y="667265"/>
            <a:ext cx="10018713" cy="512393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3480"/>
              <a:buNone/>
            </a:pPr>
            <a:r>
              <a:rPr lang="en-US"/>
              <a:t>quit(), all windows will be closed - not just the parent one. Try running the code below and you will notice that the two pop-ups above will automatically be closed as well.</a:t>
            </a:r>
            <a:endParaRPr/>
          </a:p>
          <a:p>
            <a:pPr indent="0" lvl="0" marL="0" rtl="0" algn="l">
              <a:lnSpc>
                <a:spcPct val="100000"/>
              </a:lnSpc>
              <a:spcBef>
                <a:spcPts val="1080"/>
              </a:spcBef>
              <a:spcAft>
                <a:spcPts val="0"/>
              </a:spcAft>
              <a:buSzPts val="3480"/>
              <a:buNone/>
            </a:pPr>
            <a:r>
              <a:rPr lang="en-US"/>
              <a:t>that only the parent browser window was closed and not the two pop-up windows.</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a:p>
            <a:pPr indent="0" lvl="0" marL="0" rtl="0" algn="l">
              <a:lnSpc>
                <a:spcPct val="100000"/>
              </a:lnSpc>
              <a:spcBef>
                <a:spcPts val="1080"/>
              </a:spcBef>
              <a:spcAft>
                <a:spcPts val="0"/>
              </a:spcAft>
              <a:buSzPts val="3480"/>
              <a:buNone/>
            </a:pPr>
            <a:r>
              <a:t/>
            </a:r>
            <a:endParaRPr/>
          </a:p>
        </p:txBody>
      </p:sp>
      <p:pic>
        <p:nvPicPr>
          <p:cNvPr id="466" name="Google Shape;466;p46"/>
          <p:cNvPicPr preferRelativeResize="0"/>
          <p:nvPr/>
        </p:nvPicPr>
        <p:blipFill rotWithShape="1">
          <a:blip r:embed="rId3">
            <a:alphaModFix/>
          </a:blip>
          <a:srcRect b="0" l="0" r="0" t="0"/>
          <a:stretch/>
        </p:blipFill>
        <p:spPr>
          <a:xfrm>
            <a:off x="2050766" y="2978767"/>
            <a:ext cx="5915223" cy="3223539"/>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pic>
        <p:nvPicPr>
          <p:cNvPr id="467" name="Google Shape;467;p46"/>
          <p:cNvPicPr preferRelativeResize="0"/>
          <p:nvPr/>
        </p:nvPicPr>
        <p:blipFill rotWithShape="1">
          <a:blip r:embed="rId4">
            <a:alphaModFix/>
          </a:blip>
          <a:srcRect b="0" l="0" r="0" t="0"/>
          <a:stretch/>
        </p:blipFill>
        <p:spPr>
          <a:xfrm>
            <a:off x="8336692" y="3229232"/>
            <a:ext cx="3575222" cy="192040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7"/>
          <p:cNvSpPr txBox="1"/>
          <p:nvPr>
            <p:ph idx="1" type="body"/>
          </p:nvPr>
        </p:nvSpPr>
        <p:spPr>
          <a:xfrm>
            <a:off x="1566688" y="1598142"/>
            <a:ext cx="10018713" cy="385530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8700"/>
              <a:buNone/>
            </a:pPr>
            <a:r>
              <a:rPr b="1" lang="en-US" sz="6000"/>
              <a:t>Switching Between Pop-up Windows</a:t>
            </a:r>
            <a:endParaRPr/>
          </a:p>
          <a:p>
            <a:pPr indent="-64770" lvl="0" marL="285750" rtl="0" algn="l">
              <a:lnSpc>
                <a:spcPct val="100000"/>
              </a:lnSpc>
              <a:spcBef>
                <a:spcPts val="1080"/>
              </a:spcBef>
              <a:spcAft>
                <a:spcPts val="0"/>
              </a:spcAft>
              <a:buSzPts val="348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48"/>
          <p:cNvPicPr preferRelativeResize="0"/>
          <p:nvPr>
            <p:ph idx="1" type="body"/>
          </p:nvPr>
        </p:nvPicPr>
        <p:blipFill rotWithShape="1">
          <a:blip r:embed="rId3">
            <a:alphaModFix/>
          </a:blip>
          <a:srcRect b="0" l="0" r="0" t="0"/>
          <a:stretch/>
        </p:blipFill>
        <p:spPr>
          <a:xfrm>
            <a:off x="2400855" y="1933831"/>
            <a:ext cx="8028248" cy="3783228"/>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78" name="Google Shape;478;p48"/>
          <p:cNvSpPr/>
          <p:nvPr/>
        </p:nvSpPr>
        <p:spPr>
          <a:xfrm>
            <a:off x="1960604" y="489290"/>
            <a:ext cx="9333471"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22222"/>
                </a:solidFill>
                <a:latin typeface="Corbel"/>
                <a:ea typeface="Corbel"/>
                <a:cs typeface="Corbel"/>
                <a:sym typeface="Corbel"/>
              </a:rPr>
              <a:t>WebDriver allows pop-up windows like alerts to be displayed, unlike in Selenium IDE. To access the elements within the alert (such as the message it contains), we must use the </a:t>
            </a:r>
            <a:r>
              <a:rPr b="1" i="0" lang="en-US" sz="2400" u="none" cap="none" strike="noStrike">
                <a:solidFill>
                  <a:srgbClr val="222222"/>
                </a:solidFill>
                <a:latin typeface="Corbel"/>
                <a:ea typeface="Corbel"/>
                <a:cs typeface="Corbel"/>
                <a:sym typeface="Corbel"/>
              </a:rPr>
              <a:t>"switchTo().alert()"</a:t>
            </a:r>
            <a:r>
              <a:rPr b="0" i="0" lang="en-US" sz="2400" u="none" cap="none" strike="noStrike">
                <a:solidFill>
                  <a:srgbClr val="222222"/>
                </a:solidFill>
                <a:latin typeface="Corbel"/>
                <a:ea typeface="Corbel"/>
                <a:cs typeface="Corbel"/>
                <a:sym typeface="Corbel"/>
              </a:rPr>
              <a:t> method.</a:t>
            </a:r>
            <a:endParaRPr b="0" i="0" sz="2400" u="none" cap="none" strike="noStrike">
              <a:solidFill>
                <a:schemeClr val="dk1"/>
              </a:solidFill>
              <a:latin typeface="Corbel"/>
              <a:ea typeface="Corbel"/>
              <a:cs typeface="Corbel"/>
              <a:sym typeface="Corbe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p49"/>
          <p:cNvPicPr preferRelativeResize="0"/>
          <p:nvPr>
            <p:ph idx="1" type="body"/>
          </p:nvPr>
        </p:nvPicPr>
        <p:blipFill rotWithShape="1">
          <a:blip r:embed="rId3">
            <a:alphaModFix/>
          </a:blip>
          <a:srcRect b="0" l="0" r="0" t="0"/>
          <a:stretch/>
        </p:blipFill>
        <p:spPr>
          <a:xfrm>
            <a:off x="1583166" y="2013847"/>
            <a:ext cx="10018713" cy="2484012"/>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
        <p:nvSpPr>
          <p:cNvPr id="484" name="Google Shape;484;p49"/>
          <p:cNvSpPr/>
          <p:nvPr/>
        </p:nvSpPr>
        <p:spPr>
          <a:xfrm>
            <a:off x="1647566" y="1021662"/>
            <a:ext cx="894629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22222"/>
                </a:solidFill>
                <a:latin typeface="Corbel"/>
                <a:ea typeface="Corbel"/>
                <a:cs typeface="Corbel"/>
                <a:sym typeface="Corbel"/>
              </a:rPr>
              <a:t>On the Eclipse console, notice that the printed alert message is</a:t>
            </a:r>
            <a:r>
              <a:rPr b="0" i="0" lang="en-US" sz="2400" u="none" cap="none" strike="noStrike">
                <a:solidFill>
                  <a:srgbClr val="222222"/>
                </a:solidFill>
                <a:latin typeface="Arial"/>
                <a:ea typeface="Arial"/>
                <a:cs typeface="Arial"/>
                <a:sym typeface="Arial"/>
              </a:rPr>
              <a:t>:</a:t>
            </a:r>
            <a:endParaRPr b="0" i="0" sz="2400" u="none" cap="none" strike="noStrike">
              <a:solidFill>
                <a:schemeClr val="dk1"/>
              </a:solidFill>
              <a:latin typeface="Corbel"/>
              <a:ea typeface="Corbel"/>
              <a:cs typeface="Corbel"/>
              <a:sym typeface="Corbe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0"/>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4.Components of selenium (Cotd.)</a:t>
            </a:r>
            <a:endParaRPr/>
          </a:p>
        </p:txBody>
      </p:sp>
      <p:sp>
        <p:nvSpPr>
          <p:cNvPr id="490" name="Google Shape;490;p50"/>
          <p:cNvSpPr txBox="1"/>
          <p:nvPr>
            <p:ph idx="1" type="body"/>
          </p:nvPr>
        </p:nvSpPr>
        <p:spPr>
          <a:xfrm>
            <a:off x="1484310" y="2898632"/>
            <a:ext cx="10018713" cy="3124201"/>
          </a:xfrm>
          <a:prstGeom prst="rect">
            <a:avLst/>
          </a:prstGeom>
          <a:noFill/>
          <a:ln>
            <a:noFill/>
          </a:ln>
        </p:spPr>
        <p:txBody>
          <a:bodyPr anchorCtr="0" anchor="ctr" bIns="45700" lIns="91425" spcFirstLastPara="1" rIns="91425" wrap="square" tIns="45700">
            <a:normAutofit/>
          </a:bodyPr>
          <a:lstStyle/>
          <a:p>
            <a:pPr indent="-285750" lvl="0" marL="285750" rtl="0" algn="l">
              <a:lnSpc>
                <a:spcPct val="80000"/>
              </a:lnSpc>
              <a:spcBef>
                <a:spcPts val="0"/>
              </a:spcBef>
              <a:spcAft>
                <a:spcPts val="0"/>
              </a:spcAft>
              <a:buSzPts val="3219"/>
              <a:buChar char="•"/>
            </a:pPr>
            <a:r>
              <a:rPr b="1" lang="en-US" sz="2220"/>
              <a:t>4.Selenium Grid.</a:t>
            </a:r>
            <a:endParaRPr/>
          </a:p>
          <a:p>
            <a:pPr indent="-285750" lvl="0" marL="285750" rtl="0" algn="l">
              <a:lnSpc>
                <a:spcPct val="80000"/>
              </a:lnSpc>
              <a:spcBef>
                <a:spcPts val="1044"/>
              </a:spcBef>
              <a:spcAft>
                <a:spcPts val="0"/>
              </a:spcAft>
              <a:buSzPts val="3219"/>
              <a:buChar char="•"/>
            </a:pPr>
            <a:r>
              <a:rPr lang="en-US" sz="2220"/>
              <a:t>Used together with Selenium RC to run parallel tests (running multiple tests at once)</a:t>
            </a:r>
            <a:endParaRPr/>
          </a:p>
          <a:p>
            <a:pPr indent="-285750" lvl="0" marL="285750" rtl="0" algn="l">
              <a:lnSpc>
                <a:spcPct val="80000"/>
              </a:lnSpc>
              <a:spcBef>
                <a:spcPts val="1044"/>
              </a:spcBef>
              <a:spcAft>
                <a:spcPts val="0"/>
              </a:spcAft>
              <a:buSzPts val="3219"/>
              <a:buChar char="•"/>
            </a:pPr>
            <a:r>
              <a:rPr lang="en-US" sz="2220"/>
              <a:t>Across different machines and different browsers all at the same time.</a:t>
            </a:r>
            <a:endParaRPr/>
          </a:p>
          <a:p>
            <a:pPr indent="-285750" lvl="0" marL="285750" rtl="0" algn="l">
              <a:lnSpc>
                <a:spcPct val="80000"/>
              </a:lnSpc>
              <a:spcBef>
                <a:spcPts val="1044"/>
              </a:spcBef>
              <a:spcAft>
                <a:spcPts val="0"/>
              </a:spcAft>
              <a:buSzPts val="3219"/>
              <a:buChar char="•"/>
            </a:pPr>
            <a:r>
              <a:rPr lang="en-US" sz="2220"/>
              <a:t>Since Saves time enormously.</a:t>
            </a:r>
            <a:endParaRPr/>
          </a:p>
          <a:p>
            <a:pPr indent="-285750" lvl="0" marL="285750" rtl="0" algn="l">
              <a:lnSpc>
                <a:spcPct val="80000"/>
              </a:lnSpc>
              <a:spcBef>
                <a:spcPts val="1044"/>
              </a:spcBef>
              <a:spcAft>
                <a:spcPts val="0"/>
              </a:spcAft>
              <a:buSzPts val="3219"/>
              <a:buChar char="•"/>
            </a:pPr>
            <a:r>
              <a:rPr lang="en-US" sz="2220"/>
              <a:t>Utilizes the </a:t>
            </a:r>
            <a:r>
              <a:rPr b="1" lang="en-US" sz="2220"/>
              <a:t>hub-and-nodes</a:t>
            </a:r>
            <a:r>
              <a:rPr lang="en-US" sz="2220"/>
              <a:t> concept(The hub acts as a </a:t>
            </a:r>
            <a:r>
              <a:rPr b="1" lang="en-US" sz="2220"/>
              <a:t>central source of Selenium commands</a:t>
            </a:r>
            <a:r>
              <a:rPr lang="en-US" sz="2220"/>
              <a:t> to each node connected to it)</a:t>
            </a:r>
            <a:endParaRPr/>
          </a:p>
          <a:p>
            <a:pPr indent="-285750" lvl="0" marL="285750" rtl="0" algn="l">
              <a:lnSpc>
                <a:spcPct val="80000"/>
              </a:lnSpc>
              <a:spcBef>
                <a:spcPts val="1044"/>
              </a:spcBef>
              <a:spcAft>
                <a:spcPts val="0"/>
              </a:spcAft>
              <a:buSzPts val="3219"/>
              <a:buChar char="•"/>
            </a:pPr>
            <a:r>
              <a:rPr lang="en-US" sz="2220"/>
              <a:t>To run a huge test suite, that needs to complete in the soonest time possible.</a:t>
            </a:r>
            <a:endParaRPr sz="2220"/>
          </a:p>
          <a:p>
            <a:pPr indent="-81343" lvl="0" marL="285750" rtl="0" algn="l">
              <a:lnSpc>
                <a:spcPct val="80000"/>
              </a:lnSpc>
              <a:spcBef>
                <a:spcPts val="1044"/>
              </a:spcBef>
              <a:spcAft>
                <a:spcPts val="0"/>
              </a:spcAft>
              <a:buSzPts val="3219"/>
              <a:buNone/>
            </a:pPr>
            <a:r>
              <a:t/>
            </a:r>
            <a:endParaRPr sz="2220"/>
          </a:p>
        </p:txBody>
      </p:sp>
      <p:pic>
        <p:nvPicPr>
          <p:cNvPr id="491" name="Google Shape;491;p50"/>
          <p:cNvPicPr preferRelativeResize="0"/>
          <p:nvPr/>
        </p:nvPicPr>
        <p:blipFill rotWithShape="1">
          <a:blip r:embed="rId3">
            <a:alphaModFix/>
          </a:blip>
          <a:srcRect b="0" l="0" r="0" t="0"/>
          <a:stretch/>
        </p:blipFill>
        <p:spPr>
          <a:xfrm>
            <a:off x="4193060" y="1978166"/>
            <a:ext cx="980302" cy="920466"/>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p51"/>
          <p:cNvPicPr preferRelativeResize="0"/>
          <p:nvPr>
            <p:ph idx="1" type="body"/>
          </p:nvPr>
        </p:nvPicPr>
        <p:blipFill rotWithShape="1">
          <a:blip r:embed="rId3">
            <a:alphaModFix/>
          </a:blip>
          <a:srcRect b="0" l="0" r="0" t="0"/>
          <a:stretch/>
        </p:blipFill>
        <p:spPr>
          <a:xfrm>
            <a:off x="4416979" y="1139396"/>
            <a:ext cx="3326588" cy="1785035"/>
          </a:xfrm>
          <a:prstGeom prst="rect">
            <a:avLst/>
          </a:prstGeom>
          <a:noFill/>
          <a:ln cap="sq" cmpd="sng" w="19050">
            <a:solidFill>
              <a:srgbClr val="000000"/>
            </a:solidFill>
            <a:prstDash val="solid"/>
            <a:miter lim="800000"/>
            <a:headEnd len="sm" w="sm" type="none"/>
            <a:tailEnd len="sm" w="sm" type="none"/>
          </a:ln>
          <a:effectLst>
            <a:outerShdw blurRad="50800" rotWithShape="0" algn="tl" dir="2700000" dist="38100">
              <a:srgbClr val="000000">
                <a:alpha val="41568"/>
              </a:srgbClr>
            </a:outerShdw>
          </a:effectLst>
        </p:spPr>
      </p:pic>
      <p:graphicFrame>
        <p:nvGraphicFramePr>
          <p:cNvPr id="497" name="Google Shape;497;p51"/>
          <p:cNvGraphicFramePr/>
          <p:nvPr/>
        </p:nvGraphicFramePr>
        <p:xfrm>
          <a:off x="2509795" y="3256919"/>
          <a:ext cx="3000000" cy="3000000"/>
        </p:xfrm>
        <a:graphic>
          <a:graphicData uri="http://schemas.openxmlformats.org/drawingml/2006/table">
            <a:tbl>
              <a:tblPr bandRow="1" firstRow="1">
                <a:noFill/>
                <a:tableStyleId>{0B2BE228-E682-492D-BF72-B5443A40EE51}</a:tableStyleId>
              </a:tblPr>
              <a:tblGrid>
                <a:gridCol w="4064000"/>
                <a:gridCol w="40640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Hub</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                          Node</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1.Central point where you load your tests into</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1.Selenium instances that will execute the tests that you loaded on the hub</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a:t>
                      </a:r>
                      <a:r>
                        <a:rPr b="0" i="0" lang="en-US" sz="1800" u="none" cap="none" strike="noStrike">
                          <a:solidFill>
                            <a:schemeClr val="dk1"/>
                          </a:solidFill>
                          <a:latin typeface="Corbel"/>
                          <a:ea typeface="Corbel"/>
                          <a:cs typeface="Corbel"/>
                          <a:sym typeface="Corbel"/>
                        </a:rPr>
                        <a:t> Only be one hub</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2.Can be one or more nodes</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3. Launched only on a single machine</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3. </a:t>
                      </a:r>
                      <a:r>
                        <a:rPr b="0" i="0" lang="en-US" sz="1800" u="none" cap="none" strike="noStrike">
                          <a:solidFill>
                            <a:schemeClr val="dk1"/>
                          </a:solidFill>
                          <a:latin typeface="Corbel"/>
                          <a:ea typeface="Corbel"/>
                          <a:cs typeface="Corbel"/>
                          <a:sym typeface="Corbel"/>
                        </a:rPr>
                        <a:t>Can be launched on multiple machines with different platforms and browsers.</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4.</a:t>
                      </a:r>
                      <a:r>
                        <a:rPr b="0" i="0" lang="en-US" sz="1800" u="none" cap="none" strike="noStrike">
                          <a:solidFill>
                            <a:schemeClr val="dk1"/>
                          </a:solidFill>
                          <a:latin typeface="Corbel"/>
                          <a:ea typeface="Corbel"/>
                          <a:cs typeface="Corbel"/>
                          <a:sym typeface="Corbel"/>
                        </a:rPr>
                        <a:t> The machine containing the hub is where the tests will be run</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4.The machines running the nodes need not be the same platform as that of the hub.</a:t>
                      </a:r>
                      <a:endParaRPr sz="1800" u="none" cap="none" strike="noStrike"/>
                    </a:p>
                  </a:txBody>
                  <a:tcPr marT="45725" marB="45725" marR="91450" marL="91450"/>
                </a:tc>
              </a:tr>
            </a:tbl>
          </a:graphicData>
        </a:graphic>
      </p:graphicFrame>
      <p:sp>
        <p:nvSpPr>
          <p:cNvPr id="498" name="Google Shape;498;p51"/>
          <p:cNvSpPr/>
          <p:nvPr/>
        </p:nvSpPr>
        <p:spPr>
          <a:xfrm>
            <a:off x="1974722" y="419154"/>
            <a:ext cx="49785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orbel"/>
                <a:ea typeface="Corbel"/>
                <a:cs typeface="Corbel"/>
                <a:sym typeface="Corbel"/>
              </a:rPr>
              <a:t>4.Selenium Grid (cotd.) - hub-and-nodes</a:t>
            </a:r>
            <a:r>
              <a:rPr b="0" i="0" lang="en-US" sz="1800" u="none" cap="none" strike="noStrike">
                <a:solidFill>
                  <a:schemeClr val="dk1"/>
                </a:solidFill>
                <a:latin typeface="Corbel"/>
                <a:ea typeface="Corbel"/>
                <a:cs typeface="Corbel"/>
                <a:sym typeface="Corbel"/>
              </a:rPr>
              <a:t> concept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2"/>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lgerian"/>
              <a:buNone/>
            </a:pPr>
            <a:r>
              <a:rPr lang="en-US">
                <a:latin typeface="Algerian"/>
                <a:ea typeface="Algerian"/>
                <a:cs typeface="Algerian"/>
                <a:sym typeface="Algerian"/>
              </a:rPr>
              <a:t>5.References</a:t>
            </a:r>
            <a:endParaRPr>
              <a:latin typeface="Algerian"/>
              <a:ea typeface="Algerian"/>
              <a:cs typeface="Algerian"/>
              <a:sym typeface="Algerian"/>
            </a:endParaRPr>
          </a:p>
        </p:txBody>
      </p:sp>
      <p:sp>
        <p:nvSpPr>
          <p:cNvPr id="504" name="Google Shape;504;p52"/>
          <p:cNvSpPr txBox="1"/>
          <p:nvPr>
            <p:ph idx="1" type="body"/>
          </p:nvPr>
        </p:nvSpPr>
        <p:spPr>
          <a:xfrm>
            <a:off x="1484310" y="2065637"/>
            <a:ext cx="10018713" cy="3124201"/>
          </a:xfrm>
          <a:prstGeom prst="rect">
            <a:avLst/>
          </a:prstGeom>
          <a:noFill/>
          <a:ln>
            <a:noFill/>
          </a:ln>
        </p:spPr>
        <p:txBody>
          <a:bodyPr anchorCtr="0" anchor="ctr" bIns="45700" lIns="91425" spcFirstLastPara="1" rIns="91425" wrap="square" tIns="45700">
            <a:normAutofit/>
          </a:bodyPr>
          <a:lstStyle/>
          <a:p>
            <a:pPr indent="-285750" lvl="0" marL="285750" rtl="0" algn="l">
              <a:lnSpc>
                <a:spcPct val="90000"/>
              </a:lnSpc>
              <a:spcBef>
                <a:spcPts val="0"/>
              </a:spcBef>
              <a:spcAft>
                <a:spcPts val="0"/>
              </a:spcAft>
              <a:buSzPts val="3480"/>
              <a:buChar char="•"/>
            </a:pPr>
            <a:r>
              <a:rPr lang="en-US" u="sng">
                <a:solidFill>
                  <a:schemeClr val="hlink"/>
                </a:solidFill>
                <a:hlinkClick r:id="rId3"/>
              </a:rPr>
              <a:t>https://www.guru99.com/introduction-selenuim-ide.html</a:t>
            </a:r>
            <a:endParaRPr/>
          </a:p>
          <a:p>
            <a:pPr indent="-285750" lvl="0" marL="285750" rtl="0" algn="l">
              <a:lnSpc>
                <a:spcPct val="90000"/>
              </a:lnSpc>
              <a:spcBef>
                <a:spcPts val="1080"/>
              </a:spcBef>
              <a:spcAft>
                <a:spcPts val="0"/>
              </a:spcAft>
              <a:buSzPts val="3480"/>
              <a:buChar char="•"/>
            </a:pPr>
            <a:r>
              <a:rPr lang="en-US" u="sng">
                <a:solidFill>
                  <a:schemeClr val="hlink"/>
                </a:solidFill>
                <a:hlinkClick r:id="rId4"/>
              </a:rPr>
              <a:t>https://www.guru99.com/first-webdriver-script.html</a:t>
            </a:r>
            <a:endParaRPr/>
          </a:p>
          <a:p>
            <a:pPr indent="-285750" lvl="0" marL="285750" rtl="0" algn="l">
              <a:lnSpc>
                <a:spcPct val="90000"/>
              </a:lnSpc>
              <a:spcBef>
                <a:spcPts val="1080"/>
              </a:spcBef>
              <a:spcAft>
                <a:spcPts val="0"/>
              </a:spcAft>
              <a:buSzPts val="3480"/>
              <a:buChar char="•"/>
            </a:pPr>
            <a:r>
              <a:rPr lang="en-US" u="sng">
                <a:solidFill>
                  <a:schemeClr val="hlink"/>
                </a:solidFill>
                <a:hlinkClick r:id="rId5"/>
              </a:rPr>
              <a:t>https://www.guru99.com/introduction-to-selenium-grid.html#:~:text=Selenium%20Grid%20is%20a%20part,server%20acts%20as%20a%20hub.</a:t>
            </a:r>
            <a:endParaRPr/>
          </a:p>
          <a:p>
            <a:pPr indent="-285750" lvl="0" marL="285750" rtl="0" algn="l">
              <a:lnSpc>
                <a:spcPct val="90000"/>
              </a:lnSpc>
              <a:spcBef>
                <a:spcPts val="1080"/>
              </a:spcBef>
              <a:spcAft>
                <a:spcPts val="0"/>
              </a:spcAft>
              <a:buSzPts val="3480"/>
              <a:buChar char="•"/>
            </a:pPr>
            <a:r>
              <a:rPr lang="en-US" u="sng">
                <a:solidFill>
                  <a:schemeClr val="hlink"/>
                </a:solidFill>
                <a:hlinkClick r:id="rId6"/>
              </a:rPr>
              <a:t>https://www.edureka.co/blog/what-is-selenium/</a:t>
            </a:r>
            <a:endParaRPr/>
          </a:p>
          <a:p>
            <a:pPr indent="-285750" lvl="0" marL="285750" rtl="0" algn="l">
              <a:lnSpc>
                <a:spcPct val="90000"/>
              </a:lnSpc>
              <a:spcBef>
                <a:spcPts val="1080"/>
              </a:spcBef>
              <a:spcAft>
                <a:spcPts val="0"/>
              </a:spcAft>
              <a:buSzPts val="3480"/>
              <a:buChar char="•"/>
            </a:pPr>
            <a:r>
              <a:rPr lang="en-US" u="sng">
                <a:solidFill>
                  <a:schemeClr val="hlink"/>
                </a:solidFill>
                <a:hlinkClick r:id="rId7"/>
              </a:rPr>
              <a:t>https://www.toolsqa.com/selenium-ide/locators-in-selenium-ide/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2020-09-04T08:15:07Z</dcterms:created>
  <dc:creator>Chanuka Doluweera</dc:creator>
</cp:coreProperties>
</file>